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999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4FFCE-5EC3-43E9-8755-224BD861ED8B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C582C-B272-4930-9732-B3DA3E658A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160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582C-B272-4930-9732-B3DA3E658A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7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66DE-E62A-0A31-D240-30564955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E0EBB-06BF-B00C-0F07-1FD0AF2A1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1ADD3-2E25-0BB6-8197-C2D3123B5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5B7C0-7501-78EE-1232-5B549B92B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582C-B272-4930-9732-B3DA3E658AF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141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EB7B-CB4F-1B63-C392-286E828F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641A3F-1EDF-1AE2-EC31-A25AC1B45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318121-A268-14D4-5E36-E2AD25903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01F390-3F61-B450-DBE0-082926F3F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582C-B272-4930-9732-B3DA3E658AF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204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4AF-1259-6D25-34CF-F2BFCD5B0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C4AB03-94B1-D508-B5C7-64941C4AA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32ED2-B31C-D9E1-809C-360C491E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3B59DF-68FD-7970-10A1-16A68B45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5F3F7F-35E9-10FB-4568-F7127AE1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12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9409C-A066-4726-57C9-F6EDFA77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AD498-1EEA-134E-D5D8-FE5C28753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3DA5C5-EC6C-FA7E-1B13-9B8CA6B0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CDD4C-ED7B-4208-2951-E8A5C4EA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D9529C-05D9-545E-5ACD-52B0B443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3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A2AE6-27EA-83A3-ABD2-4F0BF297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0CBB55-87F1-AC5B-CA0D-2B4946EFD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F53484-4001-1580-D4C0-459EF18B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D0646-274B-F498-B6F4-B5DA9D0C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E40D1-231A-13FA-FB69-01BD980B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61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A4B00-3E10-95A2-4BE5-2D43F3F8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FB9FD-B28B-A15C-4CDB-F9DB7A733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DA8E86-477E-A8A8-F14F-B34C9B7D1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EA0F10-9259-A134-A56E-7B26FE07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F1B3C8-F27E-905F-C267-CBCDCFD3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3FEAC-4AD0-8D2C-EC5D-9E436B50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4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0B9-A4FE-D94B-3843-E83149C9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68FBC-D5AB-F054-ED07-D4BFA0F52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1E00B9-AE70-A8F0-B93C-DC62DF523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5B431E-C321-6264-93EC-A428C4EA4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3C5159-7D72-9DB3-CB7E-859858F55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BD90D6-C73F-3B5A-F762-46F60C7B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BDA11B-2B87-40D3-44DA-766078AE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A86F8C-4154-8423-C080-9A432BDF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38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95C52-DD72-B531-F345-DE2E981B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E813AB-71F3-104A-EBE1-812406D4F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E7EB88-31F6-15A8-214F-22A87ADE1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4F51F2-DCA8-41B8-C4F7-FFA756D0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7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22ACA8-E6CE-6FFE-0515-1B7DC72F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88BC32-72D1-2AB8-1CF8-DE1C6811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E340E-5E26-D532-848D-0395B817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05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E6EC4-0860-3C74-2D21-6B54AB062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2C09F5-FDCB-D5E4-6B94-4F127D4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705150-8020-FBAA-9C2A-3C64E1FA5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555398-E921-4F8D-4407-4AA50463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AA5349-E38F-9B7E-835D-4F480143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9EBE81-1917-2F51-7867-DDC48024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5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1E3F5-6298-B544-DEE4-EC4DEE65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0D078C-7797-D8E3-B140-6C98C4F22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D0F536-6BE7-B199-A642-94FE57440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BB95E0-CEB3-A564-2C6B-D9519AF9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F03584-F57B-7F33-1933-6F273EEC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EA3C27-E651-1D5F-4A11-9926D5DD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55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6B80A-BE9E-31FD-69A0-3732F5DE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859005-74A1-693D-A434-DC0C2145D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B1286-8AA8-0146-2407-293A6047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61BA16-F105-D936-3C3D-11E14F7E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C21ABD-254B-ECE0-673B-EF23CED1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07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FEE9D1-6B5A-87AF-D5D0-FB3BF5A9E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E3F2C0-FF0C-C0BF-5736-CB7635B8C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81FD9A-AE82-95D3-5BA6-E2E5EBCD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1FA3C7-C8F7-CF7C-EEB4-E4709CC0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3DFC3-C491-0967-76E0-5BA52143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23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20D064-B2F5-9124-42E1-611B2F10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EAC0E-6D90-6FC7-72C4-81210D87B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CF0132-F54C-84B0-DB59-85C24DB62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699E9-6687-4B03-BEFD-074DEBA8A00D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0A4DAE-74E9-71AA-9A75-A3432214D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C64CD-2F2E-CC4F-0F46-1FF1DA6B9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94C55-D6A1-4D8A-AE25-B68B0CE025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42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CF42288-C286-8D53-AF5B-AA2A498B1EE8}"/>
              </a:ext>
            </a:extLst>
          </p:cNvPr>
          <p:cNvSpPr txBox="1"/>
          <p:nvPr/>
        </p:nvSpPr>
        <p:spPr>
          <a:xfrm>
            <a:off x="371929" y="2933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任务抽象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21593C-F14D-C66D-0666-0819D269A814}"/>
              </a:ext>
            </a:extLst>
          </p:cNvPr>
          <p:cNvSpPr txBox="1"/>
          <p:nvPr/>
        </p:nvSpPr>
        <p:spPr>
          <a:xfrm>
            <a:off x="371929" y="1117671"/>
            <a:ext cx="6028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工程问题：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在某个时刻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，根据所有用户的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网络队列状态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，按照一套规则，选择一个最优的（用户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业务）对进行发送。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7002A9-2357-93FE-8E93-EE3E761236D9}"/>
              </a:ext>
            </a:extLst>
          </p:cNvPr>
          <p:cNvSpPr txBox="1"/>
          <p:nvPr/>
        </p:nvSpPr>
        <p:spPr>
          <a:xfrm>
            <a:off x="405493" y="2336871"/>
            <a:ext cx="6028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在某个时刻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，以所有用户的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网络队列状态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作为一个样本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，输出一个最优的分类标签。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1BBD7-9813-C4AF-3A6D-80EC55AE2571}"/>
              </a:ext>
            </a:extLst>
          </p:cNvPr>
          <p:cNvSpPr txBox="1"/>
          <p:nvPr/>
        </p:nvSpPr>
        <p:spPr>
          <a:xfrm>
            <a:off x="405493" y="3703882"/>
            <a:ext cx="6311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我们的目标是训练一个模型 </a:t>
            </a:r>
            <a:r>
              <a:rPr lang="en-US" altLang="zh-CN" dirty="0">
                <a:latin typeface="+mn-ea"/>
              </a:rPr>
              <a:t>f</a:t>
            </a:r>
            <a:r>
              <a:rPr lang="zh-CN" altLang="en-US" dirty="0">
                <a:latin typeface="+mn-ea"/>
              </a:rPr>
              <a:t>，使得 </a:t>
            </a:r>
            <a:r>
              <a:rPr lang="en-US" altLang="zh-CN" dirty="0">
                <a:latin typeface="+mn-ea"/>
              </a:rPr>
              <a:t>f(X)</a:t>
            </a:r>
            <a:r>
              <a:rPr lang="zh-CN" altLang="en-US" dirty="0">
                <a:latin typeface="+mn-ea"/>
              </a:rPr>
              <a:t> 的</a:t>
            </a:r>
            <a:r>
              <a:rPr lang="zh-CN" altLang="en-US" b="1" dirty="0">
                <a:latin typeface="+mn-ea"/>
              </a:rPr>
              <a:t>预测结果 </a:t>
            </a:r>
            <a:r>
              <a:rPr lang="en-US" altLang="zh-CN" b="1" dirty="0" err="1">
                <a:latin typeface="+mn-ea"/>
              </a:rPr>
              <a:t>y_pred</a:t>
            </a:r>
            <a:r>
              <a:rPr lang="zh-CN" altLang="en-US" b="1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与“专家规则”给出的</a:t>
            </a:r>
            <a:r>
              <a:rPr lang="zh-CN" altLang="en-US" b="1" dirty="0">
                <a:latin typeface="+mn-ea"/>
              </a:rPr>
              <a:t>真实决策 </a:t>
            </a:r>
            <a:r>
              <a:rPr lang="en-US" altLang="zh-CN" b="1" dirty="0" err="1">
                <a:latin typeface="+mn-ea"/>
              </a:rPr>
              <a:t>y_true</a:t>
            </a:r>
            <a:r>
              <a:rPr lang="zh-CN" altLang="en-US" dirty="0">
                <a:latin typeface="+mn-ea"/>
              </a:rPr>
              <a:t> 无限接近</a:t>
            </a:r>
          </a:p>
        </p:txBody>
      </p:sp>
    </p:spTree>
    <p:extLst>
      <p:ext uri="{BB962C8B-B14F-4D97-AF65-F5344CB8AC3E}">
        <p14:creationId xmlns:p14="http://schemas.microsoft.com/office/powerpoint/2010/main" val="383287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2065-19F1-E095-AC4C-96135C80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3DF691A-FF68-CAD9-B2CD-6081D449E95B}"/>
              </a:ext>
            </a:extLst>
          </p:cNvPr>
          <p:cNvSpPr txBox="1"/>
          <p:nvPr/>
        </p:nvSpPr>
        <p:spPr>
          <a:xfrm>
            <a:off x="371929" y="2933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010E15-D10B-A244-D063-8A5453A72101}"/>
              </a:ext>
            </a:extLst>
          </p:cNvPr>
          <p:cNvSpPr txBox="1"/>
          <p:nvPr/>
        </p:nvSpPr>
        <p:spPr>
          <a:xfrm>
            <a:off x="371929" y="1352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最原始的数学表示是一个 </a:t>
            </a:r>
            <a:r>
              <a:rPr lang="en-US" altLang="zh-CN" dirty="0"/>
              <a:t>3D </a:t>
            </a:r>
            <a:r>
              <a:rPr lang="zh-CN" altLang="en-US" dirty="0"/>
              <a:t>张量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10881F-8152-9865-7AA7-ADB0CEBF29A6}"/>
              </a:ext>
            </a:extLst>
          </p:cNvPr>
          <p:cNvSpPr txBox="1"/>
          <p:nvPr/>
        </p:nvSpPr>
        <p:spPr>
          <a:xfrm>
            <a:off x="371929" y="2202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关键操作：</a:t>
            </a:r>
            <a:r>
              <a:rPr lang="zh-CN" altLang="en-US" b="1" dirty="0"/>
              <a:t>归一化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714FC2-C769-0AFD-45A3-F0515F8169FC}"/>
              </a:ext>
            </a:extLst>
          </p:cNvPr>
          <p:cNvSpPr txBox="1"/>
          <p:nvPr/>
        </p:nvSpPr>
        <p:spPr>
          <a:xfrm>
            <a:off x="371929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因为 </a:t>
            </a:r>
            <a:r>
              <a:rPr lang="en-US" altLang="zh-CN" dirty="0" err="1">
                <a:latin typeface="Courier New" panose="02070309020205020404" pitchFamily="49" charset="0"/>
              </a:rPr>
              <a:t>buffer_bytes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可能 </a:t>
            </a:r>
            <a:r>
              <a:rPr lang="en-US" altLang="zh-CN" dirty="0"/>
              <a:t>0-6,000,0) </a:t>
            </a:r>
            <a:r>
              <a:rPr lang="zh-CN" altLang="en-US" dirty="0"/>
              <a:t>和 </a:t>
            </a:r>
            <a:r>
              <a:rPr lang="en-US" altLang="zh-CN" dirty="0" err="1">
                <a:latin typeface="Courier New" panose="02070309020205020404" pitchFamily="49" charset="0"/>
              </a:rPr>
              <a:t>wait_ms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可能 </a:t>
            </a:r>
            <a:r>
              <a:rPr lang="en-US" altLang="zh-CN" dirty="0"/>
              <a:t>0-200) </a:t>
            </a:r>
            <a:r>
              <a:rPr lang="zh-CN" altLang="en-US" dirty="0"/>
              <a:t>的尺度相差太大。归一化到 </a:t>
            </a:r>
            <a:r>
              <a:rPr lang="en-US" altLang="zh-CN" dirty="0"/>
              <a:t>0-1</a:t>
            </a:r>
            <a:r>
              <a:rPr lang="zh-CN" altLang="en-US" dirty="0"/>
              <a:t>之间能让模型训练更稳定，收敛更快。</a:t>
            </a:r>
          </a:p>
        </p:txBody>
      </p:sp>
    </p:spTree>
    <p:extLst>
      <p:ext uri="{BB962C8B-B14F-4D97-AF65-F5344CB8AC3E}">
        <p14:creationId xmlns:p14="http://schemas.microsoft.com/office/powerpoint/2010/main" val="429391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8288-8424-BE53-A179-9A6099A3D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8D8A6E8-68F1-6B36-7C57-26EA546F24CA}"/>
              </a:ext>
            </a:extLst>
          </p:cNvPr>
          <p:cNvSpPr txBox="1"/>
          <p:nvPr/>
        </p:nvSpPr>
        <p:spPr>
          <a:xfrm>
            <a:off x="371929" y="2933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模型选择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ADEA6B-66A0-3FF6-D25F-C8C255EC37ED}"/>
              </a:ext>
            </a:extLst>
          </p:cNvPr>
          <p:cNvSpPr txBox="1"/>
          <p:nvPr/>
        </p:nvSpPr>
        <p:spPr>
          <a:xfrm>
            <a:off x="289379" y="755063"/>
            <a:ext cx="9426121" cy="4791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“从</a:t>
            </a:r>
            <a:r>
              <a:rPr lang="zh-CN" altLang="en-US" b="1" dirty="0"/>
              <a:t>多个用户</a:t>
            </a:r>
            <a:r>
              <a:rPr lang="zh-CN" altLang="en-US" dirty="0"/>
              <a:t>中</a:t>
            </a:r>
            <a:r>
              <a:rPr lang="zh-CN" altLang="en-US" b="1" dirty="0"/>
              <a:t>选择一个</a:t>
            </a:r>
            <a:r>
              <a:rPr lang="zh-CN" altLang="en-US" dirty="0"/>
              <a:t>进行调度”的任务中，模型必须具备的能力：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zh-CN" altLang="en-US" sz="2000" b="1" dirty="0"/>
              <a:t>置换不变性</a:t>
            </a:r>
            <a:endParaRPr lang="en-US" altLang="zh-CN" sz="2000" b="1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这 </a:t>
            </a:r>
            <a:r>
              <a:rPr lang="en-US" altLang="zh-CN" dirty="0"/>
              <a:t>128</a:t>
            </a:r>
            <a:r>
              <a:rPr lang="zh-CN" altLang="en-US" dirty="0"/>
              <a:t> 个用户在数组中的</a:t>
            </a:r>
            <a:r>
              <a:rPr lang="zh-CN" altLang="en-US" b="1" dirty="0"/>
              <a:t>顺序是完全任意的</a:t>
            </a:r>
            <a:r>
              <a:rPr lang="zh-CN" altLang="en-US" dirty="0"/>
              <a:t>，不包含任何信息。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如果模型不具备置换不变性，它会去学习“第</a:t>
            </a:r>
            <a:r>
              <a:rPr lang="en-US" altLang="zh-CN" dirty="0"/>
              <a:t>0</a:t>
            </a:r>
            <a:r>
              <a:rPr lang="zh-CN" altLang="en-US" dirty="0"/>
              <a:t>个位置的用户很重要”或“第</a:t>
            </a:r>
            <a:r>
              <a:rPr lang="en-US" altLang="zh-CN" dirty="0"/>
              <a:t>5</a:t>
            </a:r>
            <a:r>
              <a:rPr lang="zh-CN" altLang="en-US" dirty="0"/>
              <a:t>个位置的用户和第</a:t>
            </a:r>
            <a:r>
              <a:rPr lang="en-US" altLang="zh-CN" dirty="0"/>
              <a:t>6</a:t>
            </a:r>
            <a:r>
              <a:rPr lang="zh-CN" altLang="en-US" dirty="0"/>
              <a:t>个位置的用户挨着时有某种关系”，使得模型会学到</a:t>
            </a:r>
            <a:r>
              <a:rPr lang="zh-CN" altLang="en-US" b="1" dirty="0"/>
              <a:t>“位置偏见”。</a:t>
            </a:r>
            <a:endParaRPr lang="en-US" altLang="zh-CN" b="1" dirty="0"/>
          </a:p>
          <a:p>
            <a:pPr marL="342900" indent="-342900">
              <a:lnSpc>
                <a:spcPct val="120000"/>
              </a:lnSpc>
              <a:buFontTx/>
              <a:buAutoNum type="arabicPeriod"/>
            </a:pPr>
            <a:r>
              <a:rPr lang="zh-CN" altLang="en-US" sz="2000" b="1" dirty="0"/>
              <a:t>能感知全局上下文</a:t>
            </a:r>
            <a:endParaRPr lang="en-US" altLang="zh-CN" sz="2000" b="1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“传统调度规则”的核心</a:t>
            </a:r>
            <a:r>
              <a:rPr lang="zh-CN" altLang="en-US" b="1" dirty="0"/>
              <a:t>不是</a:t>
            </a:r>
            <a:r>
              <a:rPr lang="zh-CN" altLang="en-US" dirty="0"/>
              <a:t>基于绝对值，而是基于</a:t>
            </a:r>
            <a:r>
              <a:rPr lang="zh-CN" altLang="en-US" b="1" dirty="0"/>
              <a:t>比较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规则不是：“如果</a:t>
            </a:r>
            <a:r>
              <a:rPr lang="en-US" altLang="zh-CN" dirty="0"/>
              <a:t>VO</a:t>
            </a:r>
            <a:r>
              <a:rPr lang="zh-CN" altLang="en-US" dirty="0"/>
              <a:t>时延 </a:t>
            </a:r>
            <a:r>
              <a:rPr lang="en-US" altLang="zh-CN" dirty="0"/>
              <a:t>&gt; 20ms</a:t>
            </a:r>
            <a:r>
              <a:rPr lang="zh-CN" altLang="en-US" dirty="0"/>
              <a:t>，就发送它。”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规则是：“在所有</a:t>
            </a:r>
            <a:r>
              <a:rPr lang="en-US" altLang="zh-CN" dirty="0"/>
              <a:t>VO</a:t>
            </a:r>
            <a:r>
              <a:rPr lang="zh-CN" altLang="en-US" dirty="0"/>
              <a:t>时延 </a:t>
            </a:r>
            <a:r>
              <a:rPr lang="en-US" altLang="zh-CN" dirty="0"/>
              <a:t>&gt; 20ms </a:t>
            </a:r>
            <a:r>
              <a:rPr lang="zh-CN" altLang="en-US" dirty="0"/>
              <a:t>的用户中，优先发送</a:t>
            </a:r>
            <a:r>
              <a:rPr lang="zh-CN" altLang="en-US" b="1" dirty="0"/>
              <a:t>等待时延最大的那个</a:t>
            </a:r>
            <a:r>
              <a:rPr lang="zh-CN" altLang="en-US" dirty="0"/>
              <a:t>。”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模型必须有能力回答：“</a:t>
            </a:r>
            <a:r>
              <a:rPr lang="en-US" altLang="zh-CN" dirty="0"/>
              <a:t>User A </a:t>
            </a:r>
            <a:r>
              <a:rPr lang="zh-CN" altLang="en-US" dirty="0"/>
              <a:t>和 </a:t>
            </a:r>
            <a:r>
              <a:rPr lang="en-US" altLang="zh-CN" dirty="0"/>
              <a:t>User B </a:t>
            </a:r>
            <a:r>
              <a:rPr lang="zh-CN" altLang="en-US" dirty="0"/>
              <a:t>相比，谁更紧急？”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Transformer</a:t>
            </a:r>
            <a:r>
              <a:rPr lang="zh-CN" altLang="en-US" dirty="0"/>
              <a:t>的编码器</a:t>
            </a:r>
            <a:r>
              <a:rPr lang="en-US" altLang="zh-CN" b="1" dirty="0"/>
              <a:t>Encoder</a:t>
            </a:r>
            <a:r>
              <a:rPr lang="zh-CN" altLang="en-US" dirty="0"/>
              <a:t>就是为此而生的。在自注意力层中，每个用户都会去和所有其他用户进行比较，从而计算出一个融合了“全局上下文”和“相对关系”的新表征。</a:t>
            </a:r>
          </a:p>
        </p:txBody>
      </p:sp>
    </p:spTree>
    <p:extLst>
      <p:ext uri="{BB962C8B-B14F-4D97-AF65-F5344CB8AC3E}">
        <p14:creationId xmlns:p14="http://schemas.microsoft.com/office/powerpoint/2010/main" val="363988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37F4-C052-58BF-3DE3-89C0974B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31B03D1-C22C-FA3B-0D92-BF56B22556D0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模型输入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085CA-F1F3-0BEC-C1BB-2FC714C8C8B1}"/>
              </a:ext>
            </a:extLst>
          </p:cNvPr>
          <p:cNvSpPr txBox="1"/>
          <p:nvPr/>
        </p:nvSpPr>
        <p:spPr>
          <a:xfrm>
            <a:off x="450850" y="848489"/>
            <a:ext cx="9855200" cy="172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zh-CN" dirty="0"/>
              <a:t>Transformer </a:t>
            </a:r>
            <a:r>
              <a:rPr lang="zh-CN" altLang="en-US" dirty="0"/>
              <a:t>最初是为“机器翻译”设计的，它处理的是</a:t>
            </a:r>
            <a:r>
              <a:rPr lang="zh-CN" altLang="en-US" b="1" dirty="0"/>
              <a:t>一句话（一个序列）</a:t>
            </a:r>
            <a:r>
              <a:rPr lang="zh-CN" altLang="en-US" dirty="0"/>
              <a:t>。 它期望的输入格式是：</a:t>
            </a:r>
            <a:r>
              <a:rPr lang="en-US" altLang="zh-CN" dirty="0">
                <a:latin typeface="Courier New" panose="02070309020205020404" pitchFamily="49" charset="0"/>
              </a:rPr>
              <a:t>[</a:t>
            </a:r>
            <a:r>
              <a:rPr lang="en-US" altLang="zh-CN" b="1" dirty="0" err="1">
                <a:latin typeface="Courier New" panose="02070309020205020404" pitchFamily="49" charset="0"/>
              </a:rPr>
              <a:t>Batch_Size</a:t>
            </a:r>
            <a:r>
              <a:rPr lang="en-US" altLang="zh-CN" b="1" dirty="0">
                <a:latin typeface="Courier New" panose="02070309020205020404" pitchFamily="49" charset="0"/>
              </a:rPr>
              <a:t>, </a:t>
            </a:r>
            <a:r>
              <a:rPr lang="en-US" altLang="zh-CN" b="1" dirty="0" err="1">
                <a:latin typeface="Courier New" panose="02070309020205020404" pitchFamily="49" charset="0"/>
              </a:rPr>
              <a:t>Sequence_Length</a:t>
            </a:r>
            <a:r>
              <a:rPr lang="en-US" altLang="zh-CN" b="1" dirty="0">
                <a:latin typeface="Courier New" panose="02070309020205020404" pitchFamily="49" charset="0"/>
              </a:rPr>
              <a:t>, </a:t>
            </a:r>
            <a:r>
              <a:rPr lang="en-US" altLang="zh-CN" b="1" dirty="0" err="1">
                <a:latin typeface="Courier New" panose="02070309020205020404" pitchFamily="49" charset="0"/>
              </a:rPr>
              <a:t>Feature_Dimension</a:t>
            </a:r>
            <a:r>
              <a:rPr lang="en-US" altLang="zh-CN" dirty="0">
                <a:latin typeface="Courier New" panose="02070309020205020404" pitchFamily="49" charset="0"/>
              </a:rPr>
              <a:t>]</a:t>
            </a:r>
            <a:endParaRPr lang="en-US" altLang="zh-C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Courier New" panose="02070309020205020404" pitchFamily="49" charset="0"/>
              </a:rPr>
              <a:t>Sequence_Length</a:t>
            </a:r>
            <a:r>
              <a:rPr lang="zh-CN" altLang="en-US" dirty="0"/>
              <a:t>：序列的长度（例如，一句话有 </a:t>
            </a:r>
            <a:r>
              <a:rPr lang="en-US" altLang="zh-CN" dirty="0"/>
              <a:t>128 </a:t>
            </a:r>
            <a:r>
              <a:rPr lang="zh-CN" altLang="en-US" dirty="0"/>
              <a:t>个单词）。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Courier New" panose="02070309020205020404" pitchFamily="49" charset="0"/>
              </a:rPr>
              <a:t>Feature_Dimension</a:t>
            </a:r>
            <a:r>
              <a:rPr lang="zh-CN" altLang="en-US" dirty="0"/>
              <a:t>（</a:t>
            </a:r>
            <a:r>
              <a:rPr lang="en-US" altLang="zh-CN" b="1" dirty="0" err="1">
                <a:latin typeface="Courier New" panose="02070309020205020404" pitchFamily="49" charset="0"/>
              </a:rPr>
              <a:t>d_model</a:t>
            </a:r>
            <a:r>
              <a:rPr lang="zh-CN" altLang="en-US" dirty="0"/>
              <a:t>）：</a:t>
            </a:r>
            <a:r>
              <a:rPr lang="zh-CN" altLang="en-US" b="1" dirty="0"/>
              <a:t>每一个</a:t>
            </a:r>
            <a:r>
              <a:rPr lang="zh-CN" altLang="en-US" dirty="0"/>
              <a:t>单词所对应的“词向量”维度（例如，</a:t>
            </a:r>
            <a:r>
              <a:rPr lang="en-US" altLang="zh-CN" dirty="0"/>
              <a:t>6</a:t>
            </a:r>
            <a:r>
              <a:rPr lang="zh-CN" altLang="en-US" dirty="0"/>
              <a:t>维）。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b="1" dirty="0"/>
              <a:t>关键点：</a:t>
            </a:r>
            <a:r>
              <a:rPr lang="zh-CN" altLang="en-US" dirty="0"/>
              <a:t> </a:t>
            </a:r>
            <a:r>
              <a:rPr lang="en-US" altLang="zh-CN" dirty="0"/>
              <a:t>Transformer </a:t>
            </a:r>
            <a:r>
              <a:rPr lang="zh-CN" altLang="en-US" dirty="0"/>
              <a:t>期望序列中的</a:t>
            </a:r>
            <a:r>
              <a:rPr lang="zh-CN" altLang="en-US" b="1" dirty="0"/>
              <a:t>每一个元素</a:t>
            </a:r>
            <a:r>
              <a:rPr lang="zh-CN" altLang="en-US" dirty="0"/>
              <a:t>（一个单词）都是一个</a:t>
            </a:r>
            <a:r>
              <a:rPr lang="zh-CN" altLang="en-US" b="1" dirty="0"/>
              <a:t>单一的向量 </a:t>
            </a:r>
            <a:r>
              <a:rPr lang="en-US" altLang="zh-CN" b="1" dirty="0"/>
              <a:t>(Vector)</a:t>
            </a:r>
            <a:r>
              <a:rPr lang="zh-CN" altLang="en-US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957D7D-2E67-E0AF-0CAE-7C410E9D0270}"/>
              </a:ext>
            </a:extLst>
          </p:cNvPr>
          <p:cNvSpPr txBox="1"/>
          <p:nvPr/>
        </p:nvSpPr>
        <p:spPr>
          <a:xfrm>
            <a:off x="450850" y="2732110"/>
            <a:ext cx="7664450" cy="1393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dirty="0"/>
              <a:t>类比：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“一句话” </a:t>
            </a:r>
            <a:r>
              <a:rPr lang="en-US" altLang="zh-CN" dirty="0"/>
              <a:t>-&gt; “</a:t>
            </a:r>
            <a:r>
              <a:rPr lang="zh-CN" altLang="en-US" dirty="0"/>
              <a:t>一个网络状态”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“</a:t>
            </a:r>
            <a:r>
              <a:rPr lang="en-US" altLang="zh-CN" dirty="0"/>
              <a:t>50 </a:t>
            </a:r>
            <a:r>
              <a:rPr lang="zh-CN" altLang="en-US" dirty="0"/>
              <a:t>个单词” </a:t>
            </a:r>
            <a:r>
              <a:rPr lang="en-US" altLang="zh-CN" dirty="0"/>
              <a:t>-&gt; “128 </a:t>
            </a:r>
            <a:r>
              <a:rPr lang="zh-CN" altLang="en-US" dirty="0"/>
              <a:t>个用户” </a:t>
            </a:r>
            <a:r>
              <a:rPr lang="en-US" altLang="zh-CN" dirty="0"/>
              <a:t>(</a:t>
            </a:r>
            <a:r>
              <a:rPr lang="zh-CN" altLang="en-US" dirty="0"/>
              <a:t>所以 </a:t>
            </a:r>
            <a:r>
              <a:rPr lang="en-US" altLang="zh-CN" dirty="0" err="1">
                <a:latin typeface="Courier New" panose="02070309020205020404" pitchFamily="49" charset="0"/>
              </a:rPr>
              <a:t>Sequence_Length</a:t>
            </a:r>
            <a:r>
              <a:rPr lang="en-US" altLang="zh-CN" dirty="0">
                <a:latin typeface="Courier New" panose="02070309020205020404" pitchFamily="49" charset="0"/>
              </a:rPr>
              <a:t> = 128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en-US" dirty="0"/>
              <a:t>每个单词的词向量” </a:t>
            </a:r>
            <a:r>
              <a:rPr lang="en-US" altLang="zh-CN" dirty="0"/>
              <a:t>-&gt; “</a:t>
            </a:r>
            <a:r>
              <a:rPr lang="zh-CN" altLang="en-US" dirty="0"/>
              <a:t>每个用户的特征向量”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25F76A-8A42-FE26-1E4D-3D7F623D1863}"/>
              </a:ext>
            </a:extLst>
          </p:cNvPr>
          <p:cNvSpPr txBox="1"/>
          <p:nvPr/>
        </p:nvSpPr>
        <p:spPr>
          <a:xfrm>
            <a:off x="450850" y="4283332"/>
            <a:ext cx="11658600" cy="74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dirty="0"/>
              <a:t>原始样本输入是</a:t>
            </a:r>
            <a:r>
              <a:rPr lang="en-US" altLang="zh-CN" dirty="0"/>
              <a:t>[</a:t>
            </a:r>
            <a:r>
              <a:rPr lang="en-US" altLang="zh-CN" b="1" dirty="0">
                <a:latin typeface="Courier New" panose="02070309020205020404" pitchFamily="49" charset="0"/>
              </a:rPr>
              <a:t>Batch_Size</a:t>
            </a:r>
            <a:r>
              <a:rPr lang="en-US" altLang="zh-CN" dirty="0">
                <a:latin typeface="Courier New" panose="02070309020205020404" pitchFamily="49" charset="0"/>
              </a:rPr>
              <a:t>,</a:t>
            </a:r>
            <a:r>
              <a:rPr lang="en-US" altLang="zh-CN" dirty="0"/>
              <a:t>128, 3, 2]</a:t>
            </a:r>
            <a:r>
              <a:rPr lang="zh-CN" altLang="en-US" dirty="0"/>
              <a:t>，所以我们要将最后两维（业务维度和属性维度）展平成一个特征维度。</a:t>
            </a:r>
            <a:endParaRPr lang="en-US" altLang="zh-CN" dirty="0"/>
          </a:p>
          <a:p>
            <a:pPr>
              <a:lnSpc>
                <a:spcPct val="120000"/>
              </a:lnSpc>
              <a:buNone/>
            </a:pPr>
            <a:r>
              <a:rPr lang="zh-CN" altLang="en-US" dirty="0"/>
              <a:t>那么展平后的输入就是</a:t>
            </a:r>
            <a:r>
              <a:rPr lang="en-US" altLang="zh-CN" b="1" dirty="0"/>
              <a:t>[</a:t>
            </a:r>
            <a:r>
              <a:rPr lang="en-US" altLang="zh-CN" b="1" dirty="0">
                <a:latin typeface="Courier New" panose="02070309020205020404" pitchFamily="49" charset="0"/>
              </a:rPr>
              <a:t>Batch_Size,</a:t>
            </a:r>
            <a:r>
              <a:rPr lang="en-US" altLang="zh-CN" b="1" dirty="0"/>
              <a:t>128, 6]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97254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3CBA-D55F-4AE6-DF2C-1A3A8395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3BA994F-B279-2983-EE81-8A008A9C8DDB}"/>
              </a:ext>
            </a:extLst>
          </p:cNvPr>
          <p:cNvSpPr txBox="1"/>
          <p:nvPr/>
        </p:nvSpPr>
        <p:spPr>
          <a:xfrm>
            <a:off x="371929" y="2933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模型结构</a:t>
            </a:r>
          </a:p>
        </p:txBody>
      </p:sp>
    </p:spTree>
    <p:extLst>
      <p:ext uri="{BB962C8B-B14F-4D97-AF65-F5344CB8AC3E}">
        <p14:creationId xmlns:p14="http://schemas.microsoft.com/office/powerpoint/2010/main" val="428511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932F-3137-B373-E325-E0DDCF1E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150E73F-44E7-9AD3-7F9F-3061B1DC1463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模型结构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第一层：升维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0D70CE-1CFC-2730-D8F6-0023034C28AC}"/>
              </a:ext>
            </a:extLst>
          </p:cNvPr>
          <p:cNvSpPr txBox="1"/>
          <p:nvPr/>
        </p:nvSpPr>
        <p:spPr>
          <a:xfrm>
            <a:off x="371929" y="1080996"/>
            <a:ext cx="9855200" cy="309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操作：</a:t>
            </a:r>
            <a:r>
              <a:rPr lang="zh-CN" altLang="en-US" dirty="0"/>
              <a:t> 将每个用户的 </a:t>
            </a:r>
            <a:r>
              <a:rPr lang="en-US" altLang="zh-CN" dirty="0"/>
              <a:t>[1, 6]</a:t>
            </a:r>
            <a:r>
              <a:rPr lang="zh-CN" altLang="en-US" dirty="0"/>
              <a:t> 向量，通过一个线性层，投射（升维）到一个 </a:t>
            </a:r>
            <a:r>
              <a:rPr lang="en-US" altLang="zh-CN" dirty="0"/>
              <a:t>[1, 64]</a:t>
            </a:r>
            <a:r>
              <a:rPr lang="zh-CN" altLang="en-US" dirty="0"/>
              <a:t> 的向量。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为什么要这么做？</a:t>
            </a:r>
            <a:endParaRPr lang="zh-CN" altLang="en-US" sz="2000" dirty="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/>
              <a:t>增加“表达能力”：</a:t>
            </a:r>
            <a:r>
              <a:rPr lang="zh-CN" altLang="en-US" dirty="0"/>
              <a:t> </a:t>
            </a:r>
            <a:r>
              <a:rPr lang="en-US" altLang="zh-CN" dirty="0"/>
              <a:t>6 </a:t>
            </a:r>
            <a:r>
              <a:rPr lang="zh-CN" altLang="en-US" dirty="0"/>
              <a:t>维是原始特征维度。</a:t>
            </a:r>
            <a:r>
              <a:rPr lang="en-US" altLang="zh-CN" dirty="0"/>
              <a:t>64 </a:t>
            </a:r>
            <a:r>
              <a:rPr lang="zh-CN" altLang="en-US" dirty="0"/>
              <a:t>维是一个丰富的“特征空间”（</a:t>
            </a:r>
            <a:r>
              <a:rPr lang="en-US" altLang="zh-CN" dirty="0"/>
              <a:t>Embedding Space</a:t>
            </a:r>
            <a:r>
              <a:rPr lang="zh-CN" altLang="en-US" dirty="0"/>
              <a:t>）。模型可以利用这个空间“创造”新特征，例如（只是比喻）：第 </a:t>
            </a:r>
            <a:r>
              <a:rPr lang="en-US" altLang="zh-CN" dirty="0"/>
              <a:t>0-7 </a:t>
            </a:r>
            <a:r>
              <a:rPr lang="zh-CN" altLang="en-US" dirty="0"/>
              <a:t>维 被训练用来表示“</a:t>
            </a:r>
            <a:r>
              <a:rPr lang="en-US" altLang="zh-CN" dirty="0"/>
              <a:t>VO </a:t>
            </a:r>
            <a:r>
              <a:rPr lang="zh-CN" altLang="en-US" dirty="0"/>
              <a:t>紧急度”，第 </a:t>
            </a:r>
            <a:r>
              <a:rPr lang="en-US" altLang="zh-CN" dirty="0"/>
              <a:t>8-15 </a:t>
            </a:r>
            <a:r>
              <a:rPr lang="zh-CN" altLang="en-US" dirty="0"/>
              <a:t>维 被训练用来表示“</a:t>
            </a:r>
            <a:r>
              <a:rPr lang="en-US" altLang="zh-CN" dirty="0"/>
              <a:t>BE </a:t>
            </a:r>
            <a:r>
              <a:rPr lang="zh-CN" altLang="en-US" dirty="0"/>
              <a:t>饥饿度”，等等。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/>
              <a:t>提供“工作空间” ：</a:t>
            </a:r>
            <a:r>
              <a:rPr lang="zh-CN" altLang="en-US" dirty="0"/>
              <a:t> 后续的“多头注意力” </a:t>
            </a:r>
            <a:r>
              <a:rPr lang="en-US" altLang="zh-CN" dirty="0"/>
              <a:t>(</a:t>
            </a:r>
            <a:r>
              <a:rPr lang="en-US" altLang="zh-CN" dirty="0" err="1"/>
              <a:t>n_head</a:t>
            </a:r>
            <a:r>
              <a:rPr lang="en-US" altLang="zh-CN" dirty="0"/>
              <a:t>=4) </a:t>
            </a:r>
            <a:r>
              <a:rPr lang="zh-CN" altLang="en-US" dirty="0"/>
              <a:t>需要在高维空间中工作。</a:t>
            </a:r>
            <a:r>
              <a:rPr lang="en-US" altLang="zh-CN" dirty="0" err="1"/>
              <a:t>d_model</a:t>
            </a:r>
            <a:r>
              <a:rPr lang="en-US" altLang="zh-CN" dirty="0"/>
              <a:t>=64</a:t>
            </a:r>
            <a:r>
              <a:rPr lang="zh-CN" altLang="en-US" dirty="0"/>
              <a:t> 允许 </a:t>
            </a:r>
            <a:r>
              <a:rPr lang="en-US" altLang="zh-CN" dirty="0"/>
              <a:t>4 </a:t>
            </a:r>
            <a:r>
              <a:rPr lang="zh-CN" altLang="en-US" dirty="0"/>
              <a:t>个“头”各有 </a:t>
            </a:r>
            <a:r>
              <a:rPr lang="en-US" altLang="zh-CN" dirty="0"/>
              <a:t>64/4=16</a:t>
            </a:r>
            <a:r>
              <a:rPr lang="zh-CN" altLang="en-US" dirty="0"/>
              <a:t> 维去分工合作。如果只有 </a:t>
            </a:r>
            <a:r>
              <a:rPr lang="en-US" altLang="zh-CN" dirty="0"/>
              <a:t>6 </a:t>
            </a:r>
            <a:r>
              <a:rPr lang="zh-CN" altLang="en-US" dirty="0"/>
              <a:t>维，多头机制将无法有效运作。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结果：</a:t>
            </a:r>
            <a:r>
              <a:rPr lang="zh-CN" altLang="en-US" dirty="0"/>
              <a:t> 数据变为 </a:t>
            </a:r>
            <a:r>
              <a:rPr lang="en-US" altLang="zh-CN" dirty="0"/>
              <a:t>[B, 128, 64]</a:t>
            </a:r>
            <a:r>
              <a:rPr lang="zh-CN" altLang="en-US" dirty="0"/>
              <a:t>。这是进入编码器这个“黑盒子”的真正输入。</a:t>
            </a:r>
          </a:p>
        </p:txBody>
      </p:sp>
    </p:spTree>
    <p:extLst>
      <p:ext uri="{BB962C8B-B14F-4D97-AF65-F5344CB8AC3E}">
        <p14:creationId xmlns:p14="http://schemas.microsoft.com/office/powerpoint/2010/main" val="123232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6C98-117F-ABF2-4991-256E5DD5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DAF2982-D4EB-3130-32A0-FCB88A4C2A81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模型结构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第二层：编码器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F2E381-471D-D1FC-F49A-12E015B6CD34}"/>
              </a:ext>
            </a:extLst>
          </p:cNvPr>
          <p:cNvSpPr txBox="1"/>
          <p:nvPr/>
        </p:nvSpPr>
        <p:spPr>
          <a:xfrm>
            <a:off x="371929" y="871354"/>
            <a:ext cx="9855200" cy="538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/>
              <a:t>进入编码器前，</a:t>
            </a:r>
            <a:r>
              <a:rPr lang="en-US" altLang="zh-CN" sz="1600" dirty="0"/>
              <a:t>128 </a:t>
            </a:r>
            <a:r>
              <a:rPr lang="zh-CN" altLang="en-US" sz="1600" dirty="0"/>
              <a:t>个用户向量还是</a:t>
            </a:r>
            <a:r>
              <a:rPr lang="zh-CN" altLang="en-US" sz="1600" b="1" dirty="0"/>
              <a:t>互相隔离</a:t>
            </a:r>
            <a:r>
              <a:rPr lang="zh-CN" altLang="en-US" sz="1600" dirty="0"/>
              <a:t>的。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目标：</a:t>
            </a:r>
            <a:r>
              <a:rPr lang="zh-CN" altLang="en-US" sz="1600" dirty="0"/>
              <a:t> 打破隔离，让每个用户“看”到所有其他用户，实现</a:t>
            </a:r>
            <a:r>
              <a:rPr lang="zh-CN" altLang="en-US" sz="1600" b="1" dirty="0"/>
              <a:t>“关系推理”</a:t>
            </a:r>
            <a:r>
              <a:rPr lang="zh-CN" altLang="en-US" sz="1600" dirty="0"/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机制：自注意力 </a:t>
            </a:r>
            <a:r>
              <a:rPr lang="en-US" altLang="zh-CN" sz="1600" b="1" dirty="0"/>
              <a:t>(Self-Attention)</a:t>
            </a:r>
            <a:r>
              <a:rPr lang="zh-CN" altLang="en-US" sz="1600" dirty="0"/>
              <a:t> 我们可以将其比喻为“开一次会”：</a:t>
            </a:r>
          </a:p>
          <a:p>
            <a:pPr lvl="1">
              <a:lnSpc>
                <a:spcPct val="120000"/>
              </a:lnSpc>
            </a:pPr>
            <a:r>
              <a:rPr lang="zh-CN" altLang="en-US" sz="1600" b="1" dirty="0"/>
              <a:t>角色分配 </a:t>
            </a:r>
            <a:r>
              <a:rPr lang="en-US" altLang="zh-CN" sz="1600" b="1" dirty="0"/>
              <a:t>(Q, K, V)</a:t>
            </a:r>
            <a:r>
              <a:rPr lang="zh-CN" altLang="en-US" sz="1600" b="1" dirty="0"/>
              <a:t>：</a:t>
            </a:r>
            <a:r>
              <a:rPr lang="zh-CN" altLang="en-US" sz="1600" dirty="0"/>
              <a:t> 进入会议室，每个人（</a:t>
            </a:r>
            <a:r>
              <a:rPr lang="en-US" altLang="zh-CN" sz="1600" dirty="0" err="1"/>
              <a:t>x_i</a:t>
            </a:r>
            <a:r>
              <a:rPr lang="zh-CN" altLang="en-US" sz="1600" dirty="0"/>
              <a:t>）都要领到 </a:t>
            </a:r>
            <a:r>
              <a:rPr lang="en-US" altLang="zh-CN" sz="1600" dirty="0"/>
              <a:t>3 </a:t>
            </a:r>
            <a:r>
              <a:rPr lang="zh-CN" altLang="en-US" sz="1600" dirty="0"/>
              <a:t>个可学习的向量：</a:t>
            </a:r>
          </a:p>
          <a:p>
            <a:pPr lvl="2">
              <a:lnSpc>
                <a:spcPct val="120000"/>
              </a:lnSpc>
            </a:pPr>
            <a:r>
              <a:rPr lang="en-US" altLang="zh-CN" sz="1600" b="1" dirty="0"/>
              <a:t>Query (Q) - </a:t>
            </a:r>
            <a:r>
              <a:rPr lang="zh-CN" altLang="en-US" sz="1600" b="1" dirty="0">
                <a:solidFill>
                  <a:srgbClr val="FF0000"/>
                </a:solidFill>
              </a:rPr>
              <a:t>我的问题</a:t>
            </a:r>
            <a:r>
              <a:rPr lang="en-US" altLang="zh-CN" sz="1600" b="1" dirty="0" err="1">
                <a:solidFill>
                  <a:srgbClr val="FF0000"/>
                </a:solidFill>
              </a:rPr>
              <a:t>q_i</a:t>
            </a:r>
            <a:r>
              <a:rPr lang="zh-CN" altLang="en-US" sz="1600" b="1" dirty="0"/>
              <a:t>：</a:t>
            </a:r>
            <a:r>
              <a:rPr lang="zh-CN" altLang="en-US" sz="1600" dirty="0"/>
              <a:t> “我（</a:t>
            </a:r>
            <a:r>
              <a:rPr lang="en-US" altLang="zh-CN" sz="1600" dirty="0" err="1"/>
              <a:t>User_i</a:t>
            </a:r>
            <a:r>
              <a:rPr lang="zh-CN" altLang="en-US" sz="1600" dirty="0"/>
              <a:t>）在寻找什么信息？”</a:t>
            </a:r>
          </a:p>
          <a:p>
            <a:pPr lvl="2">
              <a:lnSpc>
                <a:spcPct val="120000"/>
              </a:lnSpc>
            </a:pPr>
            <a:r>
              <a:rPr lang="en-US" altLang="zh-CN" sz="1600" b="1" dirty="0"/>
              <a:t>Key (K) - </a:t>
            </a:r>
            <a:r>
              <a:rPr lang="zh-CN" altLang="en-US" sz="1600" b="1" dirty="0">
                <a:solidFill>
                  <a:schemeClr val="accent6"/>
                </a:solidFill>
              </a:rPr>
              <a:t>我的标签</a:t>
            </a:r>
            <a:r>
              <a:rPr lang="en-US" altLang="zh-CN" sz="1600" b="1" dirty="0" err="1">
                <a:solidFill>
                  <a:schemeClr val="accent6"/>
                </a:solidFill>
              </a:rPr>
              <a:t>k_i</a:t>
            </a:r>
            <a:r>
              <a:rPr lang="zh-CN" altLang="en-US" sz="1600" b="1" dirty="0"/>
              <a:t>：</a:t>
            </a:r>
            <a:r>
              <a:rPr lang="zh-CN" altLang="en-US" sz="1600" dirty="0"/>
              <a:t> “我（</a:t>
            </a:r>
            <a:r>
              <a:rPr lang="en-US" altLang="zh-CN" sz="1600" dirty="0" err="1"/>
              <a:t>User_i</a:t>
            </a:r>
            <a:r>
              <a:rPr lang="zh-CN" altLang="en-US" sz="1600" dirty="0"/>
              <a:t>）能提供什么信息？”</a:t>
            </a:r>
          </a:p>
          <a:p>
            <a:pPr lvl="2">
              <a:lnSpc>
                <a:spcPct val="120000"/>
              </a:lnSpc>
            </a:pPr>
            <a:r>
              <a:rPr lang="en-US" altLang="zh-CN" sz="1600" b="1" dirty="0"/>
              <a:t>Value (V) - </a:t>
            </a:r>
            <a:r>
              <a:rPr lang="zh-CN" altLang="en-US" sz="1600" b="1" dirty="0">
                <a:solidFill>
                  <a:schemeClr val="accent1"/>
                </a:solidFill>
              </a:rPr>
              <a:t>我的信息</a:t>
            </a:r>
            <a:r>
              <a:rPr lang="en-US" altLang="zh-CN" sz="1600" b="1" dirty="0" err="1">
                <a:solidFill>
                  <a:schemeClr val="accent1"/>
                </a:solidFill>
              </a:rPr>
              <a:t>v_i</a:t>
            </a:r>
            <a:r>
              <a:rPr lang="zh-CN" altLang="en-US" sz="1600" b="1" dirty="0"/>
              <a:t>：</a:t>
            </a:r>
            <a:r>
              <a:rPr lang="zh-CN" altLang="en-US" sz="1600" dirty="0"/>
              <a:t> “我（</a:t>
            </a:r>
            <a:r>
              <a:rPr lang="en-US" altLang="zh-CN" sz="1600" dirty="0" err="1"/>
              <a:t>User_i</a:t>
            </a:r>
            <a:r>
              <a:rPr lang="zh-CN" altLang="en-US" sz="1600" dirty="0"/>
              <a:t>）的真实数据。”</a:t>
            </a:r>
          </a:p>
          <a:p>
            <a:pPr lvl="1">
              <a:lnSpc>
                <a:spcPct val="120000"/>
              </a:lnSpc>
            </a:pPr>
            <a:r>
              <a:rPr lang="zh-CN" altLang="en-US" sz="1600" b="1" dirty="0"/>
              <a:t>关系打分 </a:t>
            </a:r>
            <a:r>
              <a:rPr lang="en-US" altLang="zh-CN" sz="1600" b="1" dirty="0"/>
              <a:t>(Q @ K.T)</a:t>
            </a:r>
            <a:r>
              <a:rPr lang="zh-CN" altLang="en-US" sz="1600" b="1" dirty="0"/>
              <a:t>：</a:t>
            </a:r>
            <a:r>
              <a:rPr lang="zh-CN" altLang="en-US" sz="1600" dirty="0"/>
              <a:t> </a:t>
            </a:r>
            <a:r>
              <a:rPr lang="en-US" altLang="zh-CN" sz="1600" dirty="0"/>
              <a:t>User_10</a:t>
            </a:r>
            <a:r>
              <a:rPr lang="zh-CN" altLang="en-US" sz="1600" dirty="0"/>
              <a:t> 拿出它的 </a:t>
            </a:r>
            <a:r>
              <a:rPr lang="en-US" altLang="zh-CN" sz="1600" b="1" dirty="0">
                <a:solidFill>
                  <a:srgbClr val="C00000"/>
                </a:solidFill>
              </a:rPr>
              <a:t>q_10</a:t>
            </a:r>
            <a:r>
              <a:rPr lang="zh-CN" altLang="en-US" sz="1600" b="1" dirty="0">
                <a:solidFill>
                  <a:srgbClr val="C00000"/>
                </a:solidFill>
              </a:rPr>
              <a:t>（“我的</a:t>
            </a:r>
            <a:r>
              <a:rPr lang="en-US" altLang="zh-CN" sz="1600" b="1" dirty="0">
                <a:solidFill>
                  <a:srgbClr val="C00000"/>
                </a:solidFill>
              </a:rPr>
              <a:t>VO</a:t>
            </a:r>
            <a:r>
              <a:rPr lang="zh-CN" altLang="en-US" sz="1600" b="1" dirty="0">
                <a:solidFill>
                  <a:srgbClr val="C00000"/>
                </a:solidFill>
              </a:rPr>
              <a:t>时延是</a:t>
            </a:r>
            <a:r>
              <a:rPr lang="en-US" altLang="zh-CN" sz="1600" b="1" dirty="0">
                <a:solidFill>
                  <a:srgbClr val="C00000"/>
                </a:solidFill>
              </a:rPr>
              <a:t>25ms</a:t>
            </a:r>
            <a:r>
              <a:rPr lang="zh-CN" altLang="en-US" sz="1600" b="1" dirty="0">
                <a:solidFill>
                  <a:srgbClr val="C00000"/>
                </a:solidFill>
              </a:rPr>
              <a:t>，谁比我大？”），</a:t>
            </a:r>
            <a:r>
              <a:rPr lang="zh-CN" altLang="en-US" sz="1600" dirty="0"/>
              <a:t>去和</a:t>
            </a:r>
            <a:r>
              <a:rPr lang="zh-CN" altLang="en-US" sz="1600" b="1" dirty="0"/>
              <a:t>所有 </a:t>
            </a:r>
            <a:r>
              <a:rPr lang="en-US" altLang="zh-CN" sz="1600" b="1" dirty="0"/>
              <a:t>128 </a:t>
            </a:r>
            <a:r>
              <a:rPr lang="zh-CN" altLang="en-US" sz="1600" b="1" dirty="0"/>
              <a:t>个</a:t>
            </a:r>
            <a:r>
              <a:rPr lang="zh-CN" altLang="en-US" sz="1600" dirty="0"/>
              <a:t>用户的 </a:t>
            </a:r>
            <a:r>
              <a:rPr lang="en-US" altLang="zh-CN" sz="1600" dirty="0"/>
              <a:t>K</a:t>
            </a:r>
            <a:r>
              <a:rPr lang="zh-CN" altLang="en-US" sz="1600" dirty="0"/>
              <a:t> 向量进行点积（</a:t>
            </a:r>
            <a:r>
              <a:rPr lang="en-US" altLang="zh-CN" sz="1600" b="1" dirty="0">
                <a:solidFill>
                  <a:srgbClr val="C00000"/>
                </a:solidFill>
              </a:rPr>
              <a:t>q_10 </a:t>
            </a:r>
            <a:r>
              <a:rPr lang="en-US" altLang="zh-CN" sz="1600" b="1" dirty="0"/>
              <a:t>•</a:t>
            </a:r>
            <a:r>
              <a:rPr lang="en-US" altLang="zh-CN" sz="1600" b="1" dirty="0">
                <a:solidFill>
                  <a:schemeClr val="accent6"/>
                </a:solidFill>
              </a:rPr>
              <a:t> </a:t>
            </a:r>
            <a:r>
              <a:rPr lang="en-US" altLang="zh-CN" sz="1600" b="1" dirty="0" err="1">
                <a:solidFill>
                  <a:schemeClr val="accent6"/>
                </a:solidFill>
              </a:rPr>
              <a:t>k_j</a:t>
            </a:r>
            <a:r>
              <a:rPr lang="zh-CN" altLang="en-US" sz="1600" dirty="0"/>
              <a:t>）来计算“相似度”。</a:t>
            </a:r>
          </a:p>
          <a:p>
            <a:pPr lvl="2">
              <a:lnSpc>
                <a:spcPct val="12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q_10 </a:t>
            </a:r>
            <a:r>
              <a:rPr lang="en-US" altLang="zh-CN" sz="1600" dirty="0"/>
              <a:t>• </a:t>
            </a:r>
            <a:r>
              <a:rPr lang="en-US" altLang="zh-CN" sz="1600" dirty="0">
                <a:solidFill>
                  <a:schemeClr val="accent6"/>
                </a:solidFill>
              </a:rPr>
              <a:t>k_50</a:t>
            </a:r>
            <a:r>
              <a:rPr lang="zh-CN" altLang="en-US" sz="1600" dirty="0">
                <a:solidFill>
                  <a:schemeClr val="accent6"/>
                </a:solidFill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</a:rPr>
              <a:t>(“</a:t>
            </a:r>
            <a:r>
              <a:rPr lang="zh-CN" altLang="en-US" sz="1600" dirty="0">
                <a:solidFill>
                  <a:schemeClr val="accent6"/>
                </a:solidFill>
              </a:rPr>
              <a:t>我的</a:t>
            </a:r>
            <a:r>
              <a:rPr lang="en-US" altLang="zh-CN" sz="1600" dirty="0">
                <a:solidFill>
                  <a:schemeClr val="accent6"/>
                </a:solidFill>
              </a:rPr>
              <a:t>VO</a:t>
            </a:r>
            <a:r>
              <a:rPr lang="zh-CN" altLang="en-US" sz="1600" dirty="0">
                <a:solidFill>
                  <a:schemeClr val="accent6"/>
                </a:solidFill>
              </a:rPr>
              <a:t>是</a:t>
            </a:r>
            <a:r>
              <a:rPr lang="en-US" altLang="zh-CN" sz="1600" dirty="0">
                <a:solidFill>
                  <a:schemeClr val="accent6"/>
                </a:solidFill>
              </a:rPr>
              <a:t>30ms”) </a:t>
            </a:r>
            <a:r>
              <a:rPr lang="en-US" altLang="zh-CN" sz="1600" dirty="0"/>
              <a:t>-&gt;</a:t>
            </a:r>
            <a:r>
              <a:rPr lang="zh-CN" altLang="en-US" sz="1600" dirty="0"/>
              <a:t>注意力</a:t>
            </a:r>
            <a:r>
              <a:rPr lang="zh-CN" altLang="en-US" sz="1600" b="1" dirty="0"/>
              <a:t>得分很高</a:t>
            </a:r>
            <a:endParaRPr lang="zh-CN" altLang="en-US" sz="1600" dirty="0"/>
          </a:p>
          <a:p>
            <a:pPr lvl="2">
              <a:lnSpc>
                <a:spcPct val="12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q_10 </a:t>
            </a:r>
            <a:r>
              <a:rPr lang="en-US" altLang="zh-CN" sz="1600" dirty="0"/>
              <a:t>• </a:t>
            </a:r>
            <a:r>
              <a:rPr lang="en-US" altLang="zh-CN" sz="1600" dirty="0">
                <a:solidFill>
                  <a:schemeClr val="accent6"/>
                </a:solidFill>
              </a:rPr>
              <a:t>k_20</a:t>
            </a:r>
            <a:r>
              <a:rPr lang="zh-CN" altLang="en-US" sz="1600" dirty="0">
                <a:solidFill>
                  <a:schemeClr val="accent6"/>
                </a:solidFill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</a:rPr>
              <a:t>(“</a:t>
            </a:r>
            <a:r>
              <a:rPr lang="zh-CN" altLang="en-US" sz="1600" dirty="0">
                <a:solidFill>
                  <a:schemeClr val="accent6"/>
                </a:solidFill>
              </a:rPr>
              <a:t>我的</a:t>
            </a:r>
            <a:r>
              <a:rPr lang="en-US" altLang="zh-CN" sz="1600" dirty="0">
                <a:solidFill>
                  <a:schemeClr val="accent6"/>
                </a:solidFill>
              </a:rPr>
              <a:t>VO</a:t>
            </a:r>
            <a:r>
              <a:rPr lang="zh-CN" altLang="en-US" sz="1600" dirty="0">
                <a:solidFill>
                  <a:schemeClr val="accent6"/>
                </a:solidFill>
              </a:rPr>
              <a:t>是</a:t>
            </a:r>
            <a:r>
              <a:rPr lang="en-US" altLang="zh-CN" sz="1600" dirty="0">
                <a:solidFill>
                  <a:schemeClr val="accent6"/>
                </a:solidFill>
              </a:rPr>
              <a:t>5ms”) </a:t>
            </a:r>
            <a:r>
              <a:rPr lang="en-US" altLang="zh-CN" sz="1600" dirty="0"/>
              <a:t>-&gt;</a:t>
            </a:r>
            <a:r>
              <a:rPr lang="zh-CN" altLang="en-US" sz="1600" dirty="0"/>
              <a:t>注意力</a:t>
            </a:r>
            <a:r>
              <a:rPr lang="zh-CN" altLang="en-US" sz="1600" b="1" dirty="0"/>
              <a:t>得分很低</a:t>
            </a:r>
            <a:endParaRPr lang="zh-CN" altLang="en-US" sz="1600" dirty="0"/>
          </a:p>
          <a:p>
            <a:pPr lvl="1">
              <a:lnSpc>
                <a:spcPct val="120000"/>
              </a:lnSpc>
            </a:pPr>
            <a:r>
              <a:rPr lang="zh-CN" altLang="en-US" sz="1600" b="1" dirty="0"/>
              <a:t>注意力归一化 ：</a:t>
            </a:r>
            <a:r>
              <a:rPr lang="zh-CN" altLang="en-US" sz="1600" dirty="0"/>
              <a:t> 将 </a:t>
            </a:r>
            <a:r>
              <a:rPr lang="en-US" altLang="zh-CN" sz="1600" dirty="0"/>
              <a:t>User_10</a:t>
            </a:r>
            <a:r>
              <a:rPr lang="zh-CN" altLang="en-US" sz="1600" dirty="0"/>
              <a:t> 得到的 </a:t>
            </a:r>
            <a:r>
              <a:rPr lang="en-US" altLang="zh-CN" sz="1600" dirty="0"/>
              <a:t>128 </a:t>
            </a:r>
            <a:r>
              <a:rPr lang="zh-CN" altLang="en-US" sz="1600" dirty="0"/>
              <a:t>个“原始分”，通过 </a:t>
            </a:r>
            <a:r>
              <a:rPr lang="en-US" altLang="zh-CN" sz="1600" dirty="0" err="1"/>
              <a:t>Softmax</a:t>
            </a:r>
            <a:r>
              <a:rPr lang="en-US" altLang="zh-CN" sz="1600" dirty="0"/>
              <a:t> </a:t>
            </a:r>
            <a:r>
              <a:rPr lang="zh-CN" altLang="en-US" sz="1600" dirty="0"/>
              <a:t>转换成“</a:t>
            </a:r>
            <a:r>
              <a:rPr lang="zh-CN" altLang="en-US" sz="1600" b="1" dirty="0"/>
              <a:t>注意力百分比”</a:t>
            </a:r>
            <a:r>
              <a:rPr lang="zh-CN" altLang="en-US" sz="1600" dirty="0"/>
              <a:t>。</a:t>
            </a:r>
          </a:p>
          <a:p>
            <a:pPr lvl="2">
              <a:lnSpc>
                <a:spcPct val="120000"/>
              </a:lnSpc>
            </a:pPr>
            <a:r>
              <a:rPr lang="zh-CN" altLang="en-US" sz="1600" dirty="0"/>
              <a:t>例如：</a:t>
            </a:r>
            <a:r>
              <a:rPr lang="en-US" altLang="zh-CN" sz="1600" dirty="0"/>
              <a:t>User_10</a:t>
            </a:r>
            <a:r>
              <a:rPr lang="zh-CN" altLang="en-US" sz="1600" dirty="0"/>
              <a:t> 决定“花 </a:t>
            </a:r>
            <a:r>
              <a:rPr lang="en-US" altLang="zh-CN" sz="1600" dirty="0"/>
              <a:t>60% </a:t>
            </a:r>
            <a:r>
              <a:rPr lang="zh-CN" altLang="en-US" sz="1600" dirty="0"/>
              <a:t>的注意力在 </a:t>
            </a:r>
            <a:r>
              <a:rPr lang="en-US" altLang="zh-CN" sz="1600" dirty="0"/>
              <a:t>User_50</a:t>
            </a:r>
            <a:r>
              <a:rPr lang="zh-CN" altLang="en-US" sz="1600" dirty="0"/>
              <a:t> 身上，花 </a:t>
            </a:r>
            <a:r>
              <a:rPr lang="en-US" altLang="zh-CN" sz="1600" dirty="0"/>
              <a:t>1% </a:t>
            </a:r>
            <a:r>
              <a:rPr lang="zh-CN" altLang="en-US" sz="1600" dirty="0"/>
              <a:t>在 </a:t>
            </a:r>
            <a:r>
              <a:rPr lang="en-US" altLang="zh-CN" sz="1600" dirty="0"/>
              <a:t>User_20</a:t>
            </a:r>
            <a:r>
              <a:rPr lang="zh-CN" altLang="en-US" sz="1600" dirty="0"/>
              <a:t> 身上</a:t>
            </a:r>
            <a:r>
              <a:rPr lang="en-US" altLang="zh-CN" sz="1600" dirty="0"/>
              <a:t>...”</a:t>
            </a:r>
            <a:r>
              <a:rPr lang="zh-CN" altLang="en-US" sz="1600" dirty="0"/>
              <a:t>。</a:t>
            </a:r>
          </a:p>
          <a:p>
            <a:pPr lvl="1">
              <a:lnSpc>
                <a:spcPct val="120000"/>
              </a:lnSpc>
            </a:pPr>
            <a:r>
              <a:rPr lang="zh-CN" altLang="en-US" sz="1600" b="1" dirty="0"/>
              <a:t>聚合信息 </a:t>
            </a:r>
            <a:r>
              <a:rPr lang="en-US" altLang="zh-CN" sz="1600" b="1" dirty="0"/>
              <a:t>(Attention @ V)</a:t>
            </a:r>
            <a:r>
              <a:rPr lang="zh-CN" altLang="en-US" sz="1600" b="1" dirty="0"/>
              <a:t>：</a:t>
            </a:r>
            <a:r>
              <a:rPr lang="zh-CN" altLang="en-US" sz="1600" dirty="0"/>
              <a:t> </a:t>
            </a:r>
            <a:r>
              <a:rPr lang="en-US" altLang="zh-CN" sz="1600" dirty="0"/>
              <a:t>User_10</a:t>
            </a:r>
            <a:r>
              <a:rPr lang="zh-CN" altLang="en-US" sz="1600" dirty="0"/>
              <a:t> 根据刚算出的“百分比”，去“加权求和”</a:t>
            </a:r>
            <a:r>
              <a:rPr lang="zh-CN" altLang="en-US" sz="1600" b="1" dirty="0"/>
              <a:t>所有 </a:t>
            </a:r>
            <a:r>
              <a:rPr lang="en-US" altLang="zh-CN" sz="1600" b="1" dirty="0"/>
              <a:t>128 </a:t>
            </a:r>
            <a:r>
              <a:rPr lang="zh-CN" altLang="en-US" sz="1600" b="1" dirty="0"/>
              <a:t>个</a:t>
            </a:r>
            <a:r>
              <a:rPr lang="zh-CN" altLang="en-US" sz="1600" dirty="0"/>
              <a:t>用户的 </a:t>
            </a:r>
            <a:r>
              <a:rPr lang="en-US" altLang="zh-CN" sz="1600" dirty="0">
                <a:solidFill>
                  <a:schemeClr val="accent1"/>
                </a:solidFill>
              </a:rPr>
              <a:t>V</a:t>
            </a:r>
            <a:r>
              <a:rPr lang="zh-CN" altLang="en-US" sz="1600" dirty="0">
                <a:solidFill>
                  <a:schemeClr val="accent1"/>
                </a:solidFill>
              </a:rPr>
              <a:t> 向量</a:t>
            </a:r>
            <a:r>
              <a:rPr lang="zh-CN" altLang="en-US" sz="1600" dirty="0"/>
              <a:t>。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z_10 </a:t>
            </a:r>
            <a:r>
              <a:rPr lang="en-US" altLang="zh-CN" sz="1600" dirty="0"/>
              <a:t>= (0.60 * </a:t>
            </a:r>
            <a:r>
              <a:rPr lang="en-US" altLang="zh-CN" sz="1600" b="1" dirty="0">
                <a:solidFill>
                  <a:schemeClr val="accent1"/>
                </a:solidFill>
              </a:rPr>
              <a:t>v_50</a:t>
            </a:r>
            <a:r>
              <a:rPr lang="en-US" altLang="zh-CN" sz="1600" dirty="0"/>
              <a:t>) + (0.01 * </a:t>
            </a:r>
            <a:r>
              <a:rPr lang="en-US" altLang="zh-CN" sz="1600" b="1" dirty="0">
                <a:solidFill>
                  <a:schemeClr val="accent1"/>
                </a:solidFill>
              </a:rPr>
              <a:t>v_20</a:t>
            </a:r>
            <a:r>
              <a:rPr lang="en-US" altLang="zh-CN" sz="1600" dirty="0"/>
              <a:t>) + ...</a:t>
            </a:r>
            <a:endParaRPr lang="zh-CN" altLang="en-US" sz="1600" dirty="0"/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结果：</a:t>
            </a:r>
            <a:r>
              <a:rPr lang="zh-CN" altLang="en-US" sz="1600" dirty="0"/>
              <a:t> </a:t>
            </a:r>
            <a:r>
              <a:rPr lang="en-US" altLang="zh-CN" sz="1600" dirty="0" err="1"/>
              <a:t>EncoderLayer</a:t>
            </a:r>
            <a:r>
              <a:rPr lang="zh-CN" altLang="en-US" sz="1600" dirty="0"/>
              <a:t> 的输出 </a:t>
            </a:r>
            <a:r>
              <a:rPr lang="en-US" altLang="zh-CN" sz="1600" dirty="0"/>
              <a:t>z_10</a:t>
            </a:r>
            <a:r>
              <a:rPr lang="zh-CN" altLang="en-US" sz="1600" dirty="0"/>
              <a:t>（</a:t>
            </a:r>
            <a:r>
              <a:rPr lang="en-US" altLang="zh-CN" sz="1600" dirty="0"/>
              <a:t>[1, 64]</a:t>
            </a:r>
            <a:r>
              <a:rPr lang="zh-CN" altLang="en-US" sz="1600" dirty="0"/>
              <a:t>）</a:t>
            </a:r>
            <a:r>
              <a:rPr lang="zh-CN" altLang="en-US" sz="1600" b="1" dirty="0"/>
              <a:t>不再是</a:t>
            </a:r>
            <a:r>
              <a:rPr lang="zh-CN" altLang="en-US" sz="1600" dirty="0"/>
              <a:t> </a:t>
            </a:r>
            <a:r>
              <a:rPr lang="en-US" altLang="zh-CN" sz="1600" dirty="0"/>
              <a:t>User_10</a:t>
            </a:r>
            <a:r>
              <a:rPr lang="zh-CN" altLang="en-US" sz="1600" dirty="0"/>
              <a:t> 的孤立信息，而是一个融合了“与 </a:t>
            </a:r>
            <a:r>
              <a:rPr lang="en-US" altLang="zh-CN" sz="1600" dirty="0"/>
              <a:t>User_50</a:t>
            </a:r>
            <a:r>
              <a:rPr lang="zh-CN" altLang="en-US" sz="1600" dirty="0"/>
              <a:t> 比较后”的</a:t>
            </a:r>
            <a:r>
              <a:rPr lang="zh-CN" altLang="en-US" sz="1600" b="1" dirty="0"/>
              <a:t>“全局上下文”向量</a:t>
            </a:r>
            <a:r>
              <a:rPr lang="zh-CN" altLang="en-US" sz="16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7526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9708-CFA2-0335-322C-FD6DD03C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49EB265-0BAF-2743-F642-8E19835B3EBF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模型结构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第二层：编码器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697E97-352D-CF58-54B0-1F76EAA04687}"/>
              </a:ext>
            </a:extLst>
          </p:cNvPr>
          <p:cNvSpPr txBox="1"/>
          <p:nvPr/>
        </p:nvSpPr>
        <p:spPr>
          <a:xfrm>
            <a:off x="371929" y="871354"/>
            <a:ext cx="9855200" cy="3760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/>
              <a:t>深入 </a:t>
            </a:r>
            <a:r>
              <a:rPr lang="en-US" altLang="zh-CN" sz="1600" b="1" dirty="0"/>
              <a:t>- </a:t>
            </a:r>
            <a:r>
              <a:rPr lang="en-US" altLang="zh-CN" sz="1600" b="1" dirty="0">
                <a:solidFill>
                  <a:srgbClr val="C00000"/>
                </a:solidFill>
              </a:rPr>
              <a:t>Q</a:t>
            </a:r>
            <a:r>
              <a:rPr lang="en-US" altLang="zh-CN" sz="1600" b="1" dirty="0"/>
              <a:t>, </a:t>
            </a:r>
            <a:r>
              <a:rPr lang="en-US" altLang="zh-CN" sz="1600" b="1" dirty="0">
                <a:solidFill>
                  <a:schemeClr val="accent6"/>
                </a:solidFill>
              </a:rPr>
              <a:t>K</a:t>
            </a:r>
            <a:r>
              <a:rPr lang="en-US" altLang="zh-CN" sz="1600" b="1" dirty="0"/>
              <a:t>, </a:t>
            </a:r>
            <a:r>
              <a:rPr lang="en-US" altLang="zh-CN" sz="1600" b="1" dirty="0">
                <a:solidFill>
                  <a:schemeClr val="accent1"/>
                </a:solidFill>
              </a:rPr>
              <a:t>V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的“智慧”从何而来？</a:t>
            </a:r>
          </a:p>
          <a:p>
            <a:pPr>
              <a:lnSpc>
                <a:spcPct val="12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Q</a:t>
            </a:r>
            <a:r>
              <a:rPr lang="en-US" altLang="zh-CN" sz="1600" dirty="0"/>
              <a:t> </a:t>
            </a:r>
            <a:r>
              <a:rPr lang="zh-CN" altLang="en-US" sz="1600" dirty="0"/>
              <a:t>怎么知道要问</a:t>
            </a:r>
            <a:r>
              <a:rPr lang="en-US" altLang="zh-CN" sz="1600" dirty="0"/>
              <a:t>”</a:t>
            </a:r>
            <a:r>
              <a:rPr lang="zh-CN" altLang="en-US" sz="1600" dirty="0"/>
              <a:t>谁时延比我大</a:t>
            </a:r>
            <a:r>
              <a:rPr lang="en-US" altLang="zh-CN" sz="1600" dirty="0"/>
              <a:t>”</a:t>
            </a:r>
            <a:r>
              <a:rPr lang="zh-CN" altLang="en-US" sz="1600" dirty="0"/>
              <a:t>？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答案：它一开始并不知道。</a:t>
            </a:r>
            <a:endParaRPr lang="en-US" altLang="zh-CN" sz="1600" b="1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  <a:p>
            <a:pPr>
              <a:lnSpc>
                <a:spcPct val="120000"/>
              </a:lnSpc>
            </a:pPr>
            <a:r>
              <a:rPr lang="zh-CN" altLang="en-US" sz="1600" dirty="0"/>
              <a:t>在训练刚开始时，</a:t>
            </a:r>
            <a:r>
              <a:rPr lang="en-US" altLang="zh-CN" b="1" dirty="0">
                <a:solidFill>
                  <a:srgbClr val="C00000"/>
                </a:solidFill>
              </a:rPr>
              <a:t>W_Q</a:t>
            </a:r>
            <a:r>
              <a:rPr lang="en-US" altLang="zh-CN" sz="1600" dirty="0"/>
              <a:t>, </a:t>
            </a:r>
            <a:r>
              <a:rPr lang="en-US" altLang="zh-CN" b="1" dirty="0">
                <a:solidFill>
                  <a:schemeClr val="accent6"/>
                </a:solidFill>
              </a:rPr>
              <a:t>W_K</a:t>
            </a:r>
            <a:r>
              <a:rPr lang="en-US" altLang="zh-CN" sz="1600" dirty="0"/>
              <a:t>, </a:t>
            </a:r>
            <a:r>
              <a:rPr lang="en-US" altLang="zh-CN" b="1" dirty="0">
                <a:solidFill>
                  <a:schemeClr val="accent1"/>
                </a:solidFill>
              </a:rPr>
              <a:t>W_V</a:t>
            </a:r>
            <a:r>
              <a:rPr lang="zh-CN" altLang="en-US" sz="1600" dirty="0"/>
              <a:t>（用于生成 </a:t>
            </a:r>
            <a:r>
              <a:rPr lang="en-US" altLang="zh-CN" sz="1600" b="1" dirty="0">
                <a:solidFill>
                  <a:srgbClr val="C00000"/>
                </a:solidFill>
              </a:rPr>
              <a:t>Q</a:t>
            </a:r>
            <a:r>
              <a:rPr lang="en-US" altLang="zh-CN" sz="1600" b="1" dirty="0">
                <a:solidFill>
                  <a:schemeClr val="accent6"/>
                </a:solidFill>
              </a:rPr>
              <a:t>K</a:t>
            </a:r>
            <a:r>
              <a:rPr lang="en-US" altLang="zh-CN" sz="1600" b="1" dirty="0">
                <a:solidFill>
                  <a:schemeClr val="accent1"/>
                </a:solidFill>
              </a:rPr>
              <a:t>V</a:t>
            </a:r>
            <a:r>
              <a:rPr lang="en-US" altLang="zh-CN" sz="1600" dirty="0"/>
              <a:t> </a:t>
            </a:r>
            <a:r>
              <a:rPr lang="zh-CN" altLang="en-US" sz="1600" dirty="0"/>
              <a:t>的权重矩阵）是</a:t>
            </a:r>
            <a:r>
              <a:rPr lang="zh-CN" altLang="en-US" sz="1600" b="1" dirty="0"/>
              <a:t>完全随机</a:t>
            </a:r>
            <a:r>
              <a:rPr lang="zh-CN" altLang="en-US" sz="1600" dirty="0"/>
              <a:t>的。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随机预测：</a:t>
            </a:r>
            <a:r>
              <a:rPr lang="zh-CN" altLang="en-US" sz="1600" dirty="0"/>
              <a:t> 随机的</a:t>
            </a:r>
            <a:r>
              <a:rPr lang="en-US" altLang="zh-CN" sz="1600" b="1" dirty="0">
                <a:solidFill>
                  <a:srgbClr val="C00000"/>
                </a:solidFill>
              </a:rPr>
              <a:t>Q</a:t>
            </a:r>
            <a:r>
              <a:rPr lang="en-US" altLang="zh-CN" sz="1600" b="1" dirty="0">
                <a:solidFill>
                  <a:schemeClr val="accent6"/>
                </a:solidFill>
              </a:rPr>
              <a:t>K</a:t>
            </a:r>
            <a:r>
              <a:rPr lang="en-US" altLang="zh-CN" sz="1600" b="1" dirty="0">
                <a:solidFill>
                  <a:schemeClr val="accent1"/>
                </a:solidFill>
              </a:rPr>
              <a:t>V</a:t>
            </a:r>
            <a:r>
              <a:rPr lang="zh-CN" altLang="en-US" sz="1600" dirty="0"/>
              <a:t>产生随机的注意力，做出随机的预测。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计算损失：</a:t>
            </a:r>
            <a:r>
              <a:rPr lang="zh-CN" altLang="en-US" sz="1600" dirty="0"/>
              <a:t> 交叉熵损失函数</a:t>
            </a:r>
            <a:r>
              <a:rPr lang="en-US" altLang="zh-CN" dirty="0" err="1"/>
              <a:t>nn.CrossEntropyLoss</a:t>
            </a:r>
            <a:r>
              <a:rPr lang="zh-CN" altLang="en-US" sz="1600" dirty="0"/>
              <a:t>会计算出一个</a:t>
            </a:r>
            <a:r>
              <a:rPr lang="zh-CN" altLang="en-US" sz="1600" b="1" dirty="0"/>
              <a:t>巨大的“惩罚值”</a:t>
            </a:r>
            <a:r>
              <a:rPr lang="zh-CN" altLang="en-US" sz="1600" dirty="0"/>
              <a:t>，告诉模型目前参数推理出的结果的错误程度。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然后经过反向传播</a:t>
            </a:r>
            <a:r>
              <a:rPr lang="zh-CN" altLang="en-US" sz="1600" dirty="0"/>
              <a:t>产生“梯度”，传导回模型</a:t>
            </a:r>
            <a:r>
              <a:rPr lang="zh-CN" altLang="en-US" sz="1600" b="1" dirty="0"/>
              <a:t>每一个</a:t>
            </a:r>
            <a:r>
              <a:rPr lang="zh-CN" altLang="en-US" sz="1600" dirty="0"/>
              <a:t>参数，包括 </a:t>
            </a:r>
            <a:r>
              <a:rPr lang="en-US" altLang="zh-CN" b="1" dirty="0">
                <a:solidFill>
                  <a:srgbClr val="C00000"/>
                </a:solidFill>
              </a:rPr>
              <a:t>W_Q</a:t>
            </a:r>
            <a:r>
              <a:rPr lang="zh-CN" altLang="en-US" sz="1600" dirty="0"/>
              <a:t>和 </a:t>
            </a:r>
            <a:r>
              <a:rPr lang="en-US" altLang="zh-CN" b="1" dirty="0">
                <a:solidFill>
                  <a:schemeClr val="accent6"/>
                </a:solidFill>
              </a:rPr>
              <a:t>W_K </a:t>
            </a:r>
            <a:r>
              <a:rPr lang="zh-CN" altLang="en-US" sz="1600" dirty="0"/>
              <a:t>。参数不断更新，</a:t>
            </a:r>
            <a:r>
              <a:rPr lang="en-US" altLang="zh-CN" b="1" dirty="0">
                <a:solidFill>
                  <a:srgbClr val="C00000"/>
                </a:solidFill>
              </a:rPr>
              <a:t> W_Q</a:t>
            </a:r>
            <a:r>
              <a:rPr lang="zh-CN" altLang="en-US" sz="1600" dirty="0"/>
              <a:t>会被</a:t>
            </a:r>
            <a:r>
              <a:rPr lang="zh-CN" altLang="en-US" sz="1600" b="1" dirty="0"/>
              <a:t>训练</a:t>
            </a:r>
            <a:r>
              <a:rPr lang="zh-CN" altLang="en-US" sz="1600" dirty="0"/>
              <a:t>成一个“提问者”，</a:t>
            </a:r>
            <a:r>
              <a:rPr lang="en-US" altLang="zh-CN" b="1" dirty="0">
                <a:solidFill>
                  <a:schemeClr val="accent6"/>
                </a:solidFill>
              </a:rPr>
              <a:t> W_K</a:t>
            </a:r>
            <a:r>
              <a:rPr lang="zh-CN" altLang="en-US" sz="1600" dirty="0"/>
              <a:t>会被</a:t>
            </a:r>
            <a:r>
              <a:rPr lang="zh-CN" altLang="en-US" sz="1600" b="1" dirty="0"/>
              <a:t>训练</a:t>
            </a:r>
            <a:r>
              <a:rPr lang="zh-CN" altLang="en-US" sz="1600" dirty="0"/>
              <a:t>成一个“回答者”，它们合作</a:t>
            </a:r>
            <a:r>
              <a:rPr lang="zh-CN" altLang="en-US" sz="1600" b="1" dirty="0"/>
              <a:t>找到那个能让 </a:t>
            </a:r>
            <a:r>
              <a:rPr lang="en-US" altLang="zh-CN" sz="1600" b="1" dirty="0"/>
              <a:t>Loss </a:t>
            </a:r>
            <a:r>
              <a:rPr lang="zh-CN" altLang="en-US" sz="1600" b="1" dirty="0"/>
              <a:t>最小化的、正确的用户。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70494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07D8E-F9C2-B76D-F278-BC8B814F7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B45A5BD-46FB-0909-4AED-F370FA4FBB66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模型结构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第二层：编码器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4646C4-ACA7-E3EF-18A0-4718CF0FAED4}"/>
              </a:ext>
            </a:extLst>
          </p:cNvPr>
          <p:cNvSpPr txBox="1"/>
          <p:nvPr/>
        </p:nvSpPr>
        <p:spPr>
          <a:xfrm>
            <a:off x="371928" y="871354"/>
            <a:ext cx="11332391" cy="616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/>
              <a:t>为了</a:t>
            </a:r>
            <a:r>
              <a:rPr lang="zh-CN" altLang="en-US" sz="1600" dirty="0"/>
              <a:t>让模型有能力学习“传统调度规则”中复杂的多层 </a:t>
            </a:r>
            <a:r>
              <a:rPr lang="en-US" altLang="zh-CN" dirty="0"/>
              <a:t>if-else</a:t>
            </a:r>
            <a:r>
              <a:rPr lang="zh-CN" altLang="en-US" sz="1600" dirty="0"/>
              <a:t> 嵌套逻辑，我们需要多层编码器拼接在一起，</a:t>
            </a:r>
            <a:r>
              <a:rPr lang="zh-CN" altLang="en-US" sz="1600" b="1" dirty="0"/>
              <a:t>学习“更深、更抽象”的层次化规则</a:t>
            </a:r>
            <a:endParaRPr lang="en-US" altLang="zh-CN" sz="1600" b="1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第 </a:t>
            </a:r>
            <a:r>
              <a:rPr lang="en-US" altLang="zh-CN" b="1" dirty="0"/>
              <a:t>1 </a:t>
            </a:r>
            <a:r>
              <a:rPr lang="zh-CN" altLang="en-US" b="1" dirty="0"/>
              <a:t>次会议 </a:t>
            </a:r>
            <a:r>
              <a:rPr lang="en-US" altLang="zh-CN" b="1" dirty="0"/>
              <a:t>(Layer 1)</a:t>
            </a:r>
            <a:r>
              <a:rPr lang="zh-CN" altLang="en-US" b="1" dirty="0"/>
              <a:t>：</a:t>
            </a:r>
            <a:endParaRPr lang="zh-CN" altLang="en-US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输入：</a:t>
            </a:r>
            <a:r>
              <a:rPr lang="zh-CN" altLang="en-US" dirty="0"/>
              <a:t> 原始数据 </a:t>
            </a:r>
            <a:r>
              <a:rPr lang="en-US" altLang="zh-CN" dirty="0">
                <a:latin typeface="Courier New" panose="02070309020205020404" pitchFamily="49" charset="0"/>
              </a:rPr>
              <a:t>x</a:t>
            </a:r>
            <a:r>
              <a:rPr lang="zh-CN" altLang="en-US" dirty="0"/>
              <a:t>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推理：</a:t>
            </a:r>
            <a:r>
              <a:rPr lang="zh-CN" altLang="en-US" dirty="0"/>
              <a:t> “一阶关系”。（只是举例，例如，</a:t>
            </a:r>
            <a:r>
              <a:rPr lang="zh-CN" altLang="en-US" dirty="0">
                <a:latin typeface="Courier New" panose="02070309020205020404" pitchFamily="49" charset="0"/>
              </a:rPr>
              <a:t>谁的</a:t>
            </a:r>
            <a:r>
              <a:rPr lang="en-US" altLang="zh-CN" dirty="0">
                <a:latin typeface="Courier New" panose="02070309020205020404" pitchFamily="49" charset="0"/>
              </a:rPr>
              <a:t>VO</a:t>
            </a:r>
            <a:r>
              <a:rPr lang="zh-CN" altLang="en-US" dirty="0">
                <a:latin typeface="Courier New" panose="02070309020205020404" pitchFamily="49" charset="0"/>
              </a:rPr>
              <a:t>时延最低，谁的</a:t>
            </a:r>
            <a:r>
              <a:rPr lang="en-US" altLang="zh-CN" dirty="0">
                <a:latin typeface="Courier New" panose="02070309020205020404" pitchFamily="49" charset="0"/>
              </a:rPr>
              <a:t>VO</a:t>
            </a:r>
            <a:r>
              <a:rPr lang="zh-CN" altLang="en-US" dirty="0">
                <a:latin typeface="Courier New" panose="02070309020205020404" pitchFamily="49" charset="0"/>
              </a:rPr>
              <a:t>时延超过阈值了</a:t>
            </a:r>
            <a:r>
              <a:rPr lang="zh-CN" altLang="en-US" dirty="0"/>
              <a:t>）。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输出：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</a:rPr>
              <a:t>Output_L1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第 </a:t>
            </a:r>
            <a:r>
              <a:rPr lang="en-US" altLang="zh-CN" b="1" dirty="0"/>
              <a:t>2 </a:t>
            </a:r>
            <a:r>
              <a:rPr lang="zh-CN" altLang="en-US" b="1" dirty="0"/>
              <a:t>次会议 </a:t>
            </a:r>
            <a:r>
              <a:rPr lang="en-US" altLang="zh-CN" b="1" dirty="0"/>
              <a:t>(Layer 2)</a:t>
            </a:r>
            <a:r>
              <a:rPr lang="zh-CN" altLang="en-US" b="1" dirty="0"/>
              <a:t>：</a:t>
            </a:r>
            <a:endParaRPr lang="zh-CN" altLang="en-US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输入：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</a:rPr>
              <a:t>Output_L1</a:t>
            </a:r>
            <a:r>
              <a:rPr lang="zh-CN" altLang="en-US" dirty="0"/>
              <a:t>（带着“一阶关系”的信息）。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推理：</a:t>
            </a:r>
            <a:r>
              <a:rPr lang="zh-CN" altLang="en-US" dirty="0"/>
              <a:t> “二阶关系”。（例如， </a:t>
            </a:r>
            <a:r>
              <a:rPr lang="en-US" altLang="zh-CN" dirty="0">
                <a:latin typeface="Courier New" panose="02070309020205020404" pitchFamily="49" charset="0"/>
              </a:rPr>
              <a:t>VO</a:t>
            </a:r>
            <a:r>
              <a:rPr lang="zh-CN" altLang="en-US" dirty="0">
                <a:latin typeface="Courier New" panose="02070309020205020404" pitchFamily="49" charset="0"/>
              </a:rPr>
              <a:t>超过阈值，</a:t>
            </a:r>
            <a:r>
              <a:rPr lang="en-US" altLang="zh-CN" dirty="0">
                <a:latin typeface="Courier New" panose="02070309020205020404" pitchFamily="49" charset="0"/>
              </a:rPr>
              <a:t>VI</a:t>
            </a:r>
            <a:r>
              <a:rPr lang="zh-CN" altLang="en-US" dirty="0">
                <a:latin typeface="Courier New" panose="02070309020205020404" pitchFamily="49" charset="0"/>
              </a:rPr>
              <a:t>队列中谁的时延最低</a:t>
            </a:r>
            <a:r>
              <a:rPr lang="zh-CN" altLang="en-US" dirty="0"/>
              <a:t>）。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输出：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</a:rPr>
              <a:t>Output_L2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第 </a:t>
            </a:r>
            <a:r>
              <a:rPr lang="en-US" altLang="zh-CN" b="1" dirty="0"/>
              <a:t>3 </a:t>
            </a:r>
            <a:r>
              <a:rPr lang="zh-CN" altLang="en-US" b="1" dirty="0"/>
              <a:t>次会议 </a:t>
            </a:r>
            <a:r>
              <a:rPr lang="en-US" altLang="zh-CN" b="1" dirty="0"/>
              <a:t>(Layer 3)</a:t>
            </a:r>
            <a:r>
              <a:rPr lang="zh-CN" altLang="en-US" b="1" dirty="0"/>
              <a:t>：</a:t>
            </a:r>
            <a:endParaRPr lang="zh-CN" altLang="en-US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输入：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</a:rPr>
              <a:t>Output_L2</a:t>
            </a:r>
            <a:r>
              <a:rPr lang="zh-CN" altLang="en-US" dirty="0"/>
              <a:t>（带着“二阶关系”的信息）。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推理：</a:t>
            </a:r>
            <a:r>
              <a:rPr lang="zh-CN" altLang="en-US" dirty="0"/>
              <a:t> “三阶</a:t>
            </a:r>
            <a:r>
              <a:rPr lang="en-US" altLang="zh-CN" dirty="0"/>
              <a:t>/</a:t>
            </a:r>
            <a:r>
              <a:rPr lang="zh-CN" altLang="en-US" dirty="0"/>
              <a:t>抽象规则”。（例如， </a:t>
            </a:r>
            <a:r>
              <a:rPr lang="en-US" altLang="zh-CN" dirty="0">
                <a:latin typeface="Courier New" panose="02070309020205020404" pitchFamily="49" charset="0"/>
              </a:rPr>
              <a:t>BE</a:t>
            </a:r>
            <a:r>
              <a:rPr lang="zh-CN" altLang="en-US" dirty="0">
                <a:latin typeface="Courier New" panose="02070309020205020404" pitchFamily="49" charset="0"/>
              </a:rPr>
              <a:t>队列处理信息</a:t>
            </a:r>
            <a:r>
              <a:rPr lang="zh-CN" altLang="en-US" dirty="0"/>
              <a:t>）。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输出：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</a:rPr>
              <a:t>Output_L3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3915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8A1F-EF9F-27DC-E44C-D24C830A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278D6D8-93ED-8DFF-D59A-E0756EFB6498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模型结构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第三层：输出降维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185274-3BD9-3C95-C6CD-03BF50AF0006}"/>
              </a:ext>
            </a:extLst>
          </p:cNvPr>
          <p:cNvSpPr txBox="1"/>
          <p:nvPr/>
        </p:nvSpPr>
        <p:spPr>
          <a:xfrm>
            <a:off x="371928" y="871354"/>
            <a:ext cx="11332391" cy="324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离开“黑盒子”：</a:t>
            </a:r>
            <a:r>
              <a:rPr lang="zh-CN" altLang="en-US" dirty="0"/>
              <a:t> 经过 </a:t>
            </a:r>
            <a:r>
              <a:rPr lang="en-US" altLang="zh-CN" dirty="0"/>
              <a:t>3 </a:t>
            </a:r>
            <a:r>
              <a:rPr lang="zh-CN" altLang="en-US" dirty="0"/>
              <a:t>层“会议”，我们得到了一个</a:t>
            </a:r>
            <a:r>
              <a:rPr lang="zh-CN" altLang="en-US" b="1" dirty="0"/>
              <a:t>高度智能</a:t>
            </a:r>
            <a:r>
              <a:rPr lang="zh-CN" altLang="en-US" dirty="0"/>
              <a:t>的 </a:t>
            </a:r>
            <a:r>
              <a:rPr lang="en-US" altLang="zh-CN" dirty="0"/>
              <a:t>[B, 128, 64] </a:t>
            </a:r>
            <a:r>
              <a:rPr lang="zh-CN" altLang="en-US" dirty="0"/>
              <a:t>张量。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之后将该张量输入到一个简单的全连接层，作用在</a:t>
            </a:r>
            <a:r>
              <a:rPr lang="zh-CN" altLang="en-US" b="1" dirty="0"/>
              <a:t>每一个</a:t>
            </a:r>
            <a:r>
              <a:rPr lang="zh-CN" altLang="en-US" dirty="0"/>
              <a:t>用户的 </a:t>
            </a:r>
            <a:r>
              <a:rPr lang="en-US" altLang="zh-CN" dirty="0"/>
              <a:t>[1, 64]</a:t>
            </a:r>
            <a:r>
              <a:rPr lang="zh-CN" altLang="en-US" dirty="0"/>
              <a:t> 智能向量上，将其“翻译”成 </a:t>
            </a:r>
            <a:r>
              <a:rPr lang="en-US" altLang="zh-CN" dirty="0"/>
              <a:t>[1, 3]</a:t>
            </a:r>
            <a:r>
              <a:rPr lang="zh-CN" altLang="en-US" dirty="0"/>
              <a:t> 的</a:t>
            </a:r>
            <a:r>
              <a:rPr lang="zh-CN" altLang="en-US" b="1" dirty="0"/>
              <a:t>分数 </a:t>
            </a:r>
            <a:r>
              <a:rPr lang="en-US" altLang="zh-CN" b="1" dirty="0"/>
              <a:t>(Logits)[</a:t>
            </a:r>
            <a:r>
              <a:rPr lang="en-US" altLang="zh-CN" b="1" dirty="0" err="1"/>
              <a:t>score_vo</a:t>
            </a:r>
            <a:r>
              <a:rPr lang="en-US" altLang="zh-CN" b="1" dirty="0"/>
              <a:t>, </a:t>
            </a:r>
            <a:r>
              <a:rPr lang="en-US" altLang="zh-CN" b="1" dirty="0" err="1"/>
              <a:t>score_vi</a:t>
            </a:r>
            <a:r>
              <a:rPr lang="en-US" altLang="zh-CN" b="1" dirty="0"/>
              <a:t>, </a:t>
            </a:r>
            <a:r>
              <a:rPr lang="en-US" altLang="zh-CN" b="1" dirty="0" err="1"/>
              <a:t>score_be</a:t>
            </a:r>
            <a:r>
              <a:rPr lang="en-US" altLang="zh-CN" b="1" dirty="0"/>
              <a:t>]</a:t>
            </a:r>
          </a:p>
          <a:p>
            <a:pPr>
              <a:lnSpc>
                <a:spcPct val="120000"/>
              </a:lnSpc>
            </a:pP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展平 </a:t>
            </a:r>
            <a:r>
              <a:rPr lang="en-US" altLang="zh-CN" b="1" dirty="0"/>
              <a:t>(.view(B, -1) [cite: model.py])</a:t>
            </a:r>
            <a:r>
              <a:rPr lang="zh-CN" altLang="en-US" b="1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最后，将 </a:t>
            </a:r>
            <a:r>
              <a:rPr lang="en-US" altLang="zh-CN" dirty="0"/>
              <a:t>[B, 128, 3] </a:t>
            </a:r>
            <a:r>
              <a:rPr lang="zh-CN" altLang="en-US" dirty="0"/>
              <a:t>的总分矩阵，展平成 </a:t>
            </a:r>
            <a:r>
              <a:rPr lang="en-US" altLang="zh-CN" dirty="0"/>
              <a:t>[B, 384] </a:t>
            </a:r>
            <a:r>
              <a:rPr lang="zh-CN" altLang="en-US" dirty="0"/>
              <a:t>的一维向量，以适配 交叉熵损失函数的输入要求，完成一次预测和训练。</a:t>
            </a:r>
          </a:p>
          <a:p>
            <a:pPr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  <a:p>
            <a:pPr>
              <a:lnSpc>
                <a:spcPct val="12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3487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25EC-3066-BD79-C54A-1A970065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4BBC516-6DC1-4F77-4BF3-BFA33AA55CE1}"/>
              </a:ext>
            </a:extLst>
          </p:cNvPr>
          <p:cNvSpPr txBox="1"/>
          <p:nvPr/>
        </p:nvSpPr>
        <p:spPr>
          <a:xfrm>
            <a:off x="371929" y="293398"/>
            <a:ext cx="609600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6206ECA-98FB-ED0E-09F7-287419D5D614}"/>
                  </a:ext>
                </a:extLst>
              </p:cNvPr>
              <p:cNvSpPr txBox="1"/>
              <p:nvPr/>
            </p:nvSpPr>
            <p:spPr>
              <a:xfrm>
                <a:off x="371928" y="871354"/>
                <a:ext cx="11332391" cy="504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要理解</a:t>
                </a:r>
                <a:r>
                  <a:rPr lang="zh-CN" altLang="zh-CN" sz="1600" b="1" dirty="0"/>
                  <a:t>交叉熵（</a:t>
                </a:r>
                <a:r>
                  <a:rPr lang="en-US" altLang="zh-CN" sz="1600" b="1" dirty="0"/>
                  <a:t>Cross-Entropy</a:t>
                </a:r>
                <a:r>
                  <a:rPr lang="zh-CN" altLang="zh-CN" sz="1600" b="1" dirty="0"/>
                  <a:t>），</a:t>
                </a:r>
                <a:r>
                  <a:rPr lang="zh-CN" altLang="zh-CN" sz="1600" dirty="0"/>
                  <a:t>我们首先需要知道</a:t>
                </a:r>
                <a:r>
                  <a:rPr lang="en-US" altLang="zh-CN" sz="1600" dirty="0"/>
                  <a:t> </a:t>
                </a:r>
                <a:r>
                  <a:rPr lang="en-US" altLang="zh-CN" sz="1600" b="1" dirty="0"/>
                  <a:t>KL </a:t>
                </a:r>
                <a:r>
                  <a:rPr lang="zh-CN" altLang="zh-CN" sz="1600" b="1" dirty="0"/>
                  <a:t>散度</a:t>
                </a:r>
                <a:r>
                  <a:rPr lang="zh-CN" altLang="zh-CN" sz="1600" dirty="0"/>
                  <a:t>。</a:t>
                </a:r>
              </a:p>
              <a:p>
                <a:pPr>
                  <a:lnSpc>
                    <a:spcPct val="120000"/>
                  </a:lnSpc>
                </a:pPr>
                <a:endParaRPr lang="zh-CN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b="1" dirty="0"/>
                  <a:t>KL </a:t>
                </a:r>
                <a:r>
                  <a:rPr lang="zh-CN" altLang="zh-CN" sz="1600" b="1" dirty="0"/>
                  <a:t>散度</a:t>
                </a:r>
                <a:r>
                  <a:rPr lang="en-US" altLang="zh-CN" sz="1600" dirty="0"/>
                  <a:t>: KL </a:t>
                </a:r>
                <a:r>
                  <a:rPr lang="zh-CN" altLang="zh-CN" sz="1600" dirty="0"/>
                  <a:t>散度用于衡量两个概率分布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𝑃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和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𝑄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之间的</a:t>
                </a:r>
                <a:r>
                  <a:rPr lang="zh-CN" altLang="zh-CN" sz="1600" b="1" dirty="0"/>
                  <a:t>差异</a:t>
                </a:r>
                <a:r>
                  <a:rPr lang="zh-CN" altLang="zh-CN" sz="1600" dirty="0"/>
                  <a:t>。在机器学习中，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600" dirty="0"/>
                  <a:t>通常代表“真实分布”（</a:t>
                </a:r>
                <a:r>
                  <a:rPr lang="en-US" altLang="zh-CN" sz="1600" dirty="0"/>
                  <a:t>Ground Truth</a:t>
                </a:r>
                <a:r>
                  <a:rPr lang="zh-CN" altLang="zh-CN" sz="1600" dirty="0"/>
                  <a:t>），而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𝑄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代表“模型预测的分布”。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1600" dirty="0"/>
                  <a:t>KL </a:t>
                </a:r>
                <a:r>
                  <a:rPr lang="zh-CN" altLang="zh-CN" sz="1600" dirty="0"/>
                  <a:t>散度的公式为：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/>
                        </m:ctrlPr>
                      </m:sSubPr>
                      <m:e>
                        <m:r>
                          <a:rPr lang="en-US" altLang="zh-CN" sz="1600" i="1"/>
                          <m:t>𝐷</m:t>
                        </m:r>
                      </m:e>
                      <m:sub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r>
                              <a:rPr lang="en-US" altLang="zh-CN" sz="1600" i="1"/>
                              <m:t>𝐾𝐿</m:t>
                            </m:r>
                          </m:e>
                        </m:d>
                      </m:sub>
                    </m:sSub>
                    <m:r>
                      <a:rPr lang="en-US" altLang="zh-CN" sz="1600" i="1"/>
                      <m:t>(</m:t>
                    </m:r>
                    <m:r>
                      <a:rPr lang="en-US" altLang="zh-CN" sz="1600" i="1"/>
                      <m:t>𝑃</m:t>
                    </m:r>
                    <m:r>
                      <a:rPr lang="en-US" altLang="zh-CN" sz="1600" i="1"/>
                      <m:t>|</m:t>
                    </m:r>
                    <m:d>
                      <m:dPr>
                        <m:begChr m:val="|"/>
                        <m:ctrlPr>
                          <a:rPr lang="zh-CN" altLang="zh-CN" sz="1600" i="1"/>
                        </m:ctrlPr>
                      </m:dPr>
                      <m:e>
                        <m:r>
                          <a:rPr lang="en-US" altLang="zh-CN" sz="1600" i="1"/>
                          <m:t>𝑄</m:t>
                        </m:r>
                      </m:e>
                    </m:d>
                    <m:r>
                      <a:rPr lang="en-US" altLang="zh-CN" sz="1600" i="1"/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00" i="1"/>
                        </m:ctrlPr>
                      </m:naryPr>
                      <m:sub>
                        <m:r>
                          <a:rPr lang="en-US" altLang="zh-CN" sz="1600" i="1"/>
                          <m:t>𝑥</m:t>
                        </m:r>
                      </m:sub>
                      <m:sup/>
                      <m:e>
                        <m:r>
                          <a:rPr lang="en-US" altLang="zh-CN" sz="1600" i="1"/>
                          <m:t>𝑃</m:t>
                        </m:r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r>
                              <a:rPr lang="en-US" altLang="zh-CN" sz="1600" i="1"/>
                              <m:t>𝑥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zh-CN" altLang="zh-CN" sz="16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/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1600" i="1"/>
                                </m:ctrlPr>
                              </m:fPr>
                              <m:num>
                                <m:r>
                                  <a:rPr lang="en-US" altLang="zh-CN" sz="1600" i="1"/>
                                  <m:t>𝑃</m:t>
                                </m:r>
                                <m:d>
                                  <m:dPr>
                                    <m:ctrlPr>
                                      <a:rPr lang="zh-CN" altLang="zh-CN" sz="1600" i="1"/>
                                    </m:ctrlPr>
                                  </m:dPr>
                                  <m:e>
                                    <m:r>
                                      <a:rPr lang="en-US" altLang="zh-CN" sz="1600" i="1"/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altLang="zh-CN" sz="1600" i="1"/>
                                  <m:t>𝑄</m:t>
                                </m:r>
                                <m:d>
                                  <m:dPr>
                                    <m:ctrlPr>
                                      <a:rPr lang="zh-CN" altLang="zh-CN" sz="1600" i="1"/>
                                    </m:ctrlPr>
                                  </m:dPr>
                                  <m:e>
                                    <m:r>
                                      <a:rPr lang="en-US" altLang="zh-CN" sz="1600" i="1"/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zh-CN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我们的目标是让模型的预测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𝑄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尽可能地接近真实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𝑃</m:t>
                    </m:r>
                  </m:oMath>
                </a14:m>
                <a:r>
                  <a:rPr lang="zh-CN" altLang="zh-CN" sz="1600" dirty="0"/>
                  <a:t>，也就是最小化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/>
                        </m:ctrlPr>
                      </m:sSubPr>
                      <m:e>
                        <m:r>
                          <a:rPr lang="en-US" altLang="zh-CN" sz="1600" i="1"/>
                          <m:t>𝐷</m:t>
                        </m:r>
                      </m:e>
                      <m:sub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r>
                              <a:rPr lang="en-US" altLang="zh-CN" sz="1600" i="1"/>
                              <m:t>𝐾𝐿</m:t>
                            </m:r>
                          </m:e>
                        </m:d>
                      </m:sub>
                    </m:sSub>
                    <m:r>
                      <a:rPr lang="en-US" altLang="zh-CN" sz="1600" i="1"/>
                      <m:t>(</m:t>
                    </m:r>
                    <m:r>
                      <a:rPr lang="en-US" altLang="zh-CN" sz="1600" i="1"/>
                      <m:t>𝑃</m:t>
                    </m:r>
                    <m:r>
                      <a:rPr lang="en-US" altLang="zh-CN" sz="1600" i="1"/>
                      <m:t>|</m:t>
                    </m:r>
                    <m:d>
                      <m:dPr>
                        <m:begChr m:val="|"/>
                        <m:ctrlPr>
                          <a:rPr lang="zh-CN" altLang="zh-CN" sz="1600" i="1"/>
                        </m:ctrlPr>
                      </m:dPr>
                      <m:e>
                        <m:r>
                          <a:rPr lang="en-US" altLang="zh-CN" sz="1600" i="1"/>
                          <m:t>𝑄</m:t>
                        </m:r>
                      </m:e>
                    </m:d>
                  </m:oMath>
                </a14:m>
                <a:r>
                  <a:rPr lang="zh-CN" altLang="zh-CN" sz="1600" dirty="0"/>
                  <a:t>。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我们将这个公式展开：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b="1" i="1"/>
                        </m:ctrlPr>
                      </m:sSubPr>
                      <m:e>
                        <m:r>
                          <a:rPr lang="en-US" altLang="zh-CN" sz="1600" b="1" i="1"/>
                          <m:t>𝑫</m:t>
                        </m:r>
                      </m:e>
                      <m:sub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𝑲𝑳</m:t>
                            </m:r>
                          </m:e>
                        </m:d>
                      </m:sub>
                    </m:sSub>
                    <m:r>
                      <a:rPr lang="en-US" altLang="zh-CN" sz="1600" b="1" i="1"/>
                      <m:t>(</m:t>
                    </m:r>
                    <m:r>
                      <a:rPr lang="en-US" altLang="zh-CN" sz="1600" b="1" i="1"/>
                      <m:t>𝑷</m:t>
                    </m:r>
                    <m:r>
                      <a:rPr lang="en-US" altLang="zh-CN" sz="1600" b="1" i="1"/>
                      <m:t>|</m:t>
                    </m:r>
                    <m:d>
                      <m:dPr>
                        <m:begChr m:val="|"/>
                        <m:ctrlPr>
                          <a:rPr lang="zh-CN" altLang="zh-CN" sz="1600" b="1" i="1"/>
                        </m:ctrlPr>
                      </m:dPr>
                      <m:e>
                        <m:r>
                          <a:rPr lang="en-US" altLang="zh-CN" sz="1600" b="1" i="1"/>
                          <m:t>𝑸</m:t>
                        </m:r>
                      </m:e>
                    </m:d>
                    <m:r>
                      <a:rPr lang="en-US" altLang="zh-CN" sz="1600" b="1" i="1"/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00" b="1" i="1"/>
                        </m:ctrlPr>
                      </m:naryPr>
                      <m:sub>
                        <m:r>
                          <a:rPr lang="en-US" altLang="zh-CN" sz="1600" b="1" i="1"/>
                          <m:t>𝒙</m:t>
                        </m:r>
                      </m:sub>
                      <m:sup/>
                      <m:e>
                        <m:r>
                          <a:rPr lang="en-US" altLang="zh-CN" sz="1600" b="1" i="1"/>
                          <m:t>𝑷</m:t>
                        </m:r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𝒙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zh-CN" altLang="zh-CN" sz="1600" b="1" i="1"/>
                        </m:ctrlPr>
                      </m:funcPr>
                      <m:fName>
                        <m:r>
                          <a:rPr lang="en-US" altLang="zh-CN" sz="1600" b="1" i="1"/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𝑷</m:t>
                            </m:r>
                            <m:d>
                              <m:dPr>
                                <m:ctrlPr>
                                  <a:rPr lang="zh-CN" altLang="zh-CN" sz="1600" b="1" i="1"/>
                                </m:ctrlPr>
                              </m:dPr>
                              <m:e>
                                <m:r>
                                  <a:rPr lang="en-US" altLang="zh-CN" sz="1600" b="1" i="1"/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sz="1600" b="1" i="1"/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1600" b="1" i="1"/>
                        </m:ctrlPr>
                      </m:naryPr>
                      <m:sub>
                        <m:r>
                          <a:rPr lang="en-US" altLang="zh-CN" sz="1600" b="1" i="1"/>
                          <m:t>𝒙</m:t>
                        </m:r>
                      </m:sub>
                      <m:sup/>
                      <m:e>
                        <m:r>
                          <a:rPr lang="en-US" altLang="zh-CN" sz="1600" b="1" i="1"/>
                          <m:t>𝑷</m:t>
                        </m:r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𝒙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zh-CN" altLang="zh-CN" sz="1600" b="1" i="1"/>
                        </m:ctrlPr>
                      </m:funcPr>
                      <m:fName>
                        <m:r>
                          <a:rPr lang="en-US" altLang="zh-CN" sz="1600" b="1" i="1"/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𝑸</m:t>
                            </m:r>
                            <m:d>
                              <m:dPr>
                                <m:ctrlPr>
                                  <a:rPr lang="zh-CN" altLang="zh-CN" sz="1600" b="1" i="1"/>
                                </m:ctrlPr>
                              </m:dPr>
                              <m:e>
                                <m:r>
                                  <a:rPr lang="en-US" altLang="zh-CN" sz="1600" b="1" i="1"/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zh-CN" altLang="zh-CN" sz="1600" b="1" dirty="0"/>
              </a:p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第一项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zh-CN" sz="1600" i="1"/>
                        </m:ctrlPr>
                      </m:naryPr>
                      <m:sub/>
                      <m:sup/>
                      <m:e>
                        <m:r>
                          <a:rPr lang="en-US" altLang="zh-CN" sz="1600" i="1"/>
                          <m:t>𝑃</m:t>
                        </m:r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r>
                              <a:rPr lang="en-US" altLang="zh-CN" sz="1600" i="1"/>
                              <m:t>𝑥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zh-CN" altLang="zh-CN" sz="16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/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r>
                              <a:rPr lang="en-US" altLang="zh-CN" sz="1600" i="1"/>
                              <m:t>𝑃</m:t>
                            </m:r>
                            <m:d>
                              <m:dPr>
                                <m:ctrlPr>
                                  <a:rPr lang="zh-CN" altLang="zh-CN" sz="1600" i="1"/>
                                </m:ctrlPr>
                              </m:dPr>
                              <m:e>
                                <m:r>
                                  <a:rPr lang="en-US" altLang="zh-CN" sz="1600" i="1"/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sz="1600" dirty="0"/>
                  <a:t>: </a:t>
                </a:r>
                <a:r>
                  <a:rPr lang="zh-CN" altLang="zh-CN" sz="1600" dirty="0"/>
                  <a:t>这是真实分布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𝑃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的负熵（</a:t>
                </a:r>
                <a:r>
                  <a:rPr lang="en-US" altLang="zh-CN" sz="1600" dirty="0"/>
                  <a:t>Entropy</a:t>
                </a:r>
                <a:r>
                  <a:rPr lang="zh-CN" altLang="zh-CN" sz="1600" dirty="0"/>
                  <a:t>）。由于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𝑃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是真实的数据分布，它是固定不变的，所以这一项是一个常数。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第二项 </a:t>
                </a:r>
                <a14:m>
                  <m:oMath xmlns:m="http://schemas.openxmlformats.org/officeDocument/2006/math">
                    <m:r>
                      <a:rPr lang="en-US" altLang="zh-CN" sz="1600" b="1" i="1"/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zh-CN" sz="1600" b="1" i="1"/>
                        </m:ctrlPr>
                      </m:naryPr>
                      <m:sub/>
                      <m:sup/>
                      <m:e>
                        <m:r>
                          <a:rPr lang="en-US" altLang="zh-CN" sz="1600" b="1" i="1"/>
                          <m:t>𝑷</m:t>
                        </m:r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𝒙</m:t>
                            </m:r>
                          </m:e>
                        </m:d>
                      </m:e>
                    </m:nary>
                    <m:func>
                      <m:funcPr>
                        <m:ctrlPr>
                          <a:rPr lang="zh-CN" altLang="zh-CN" sz="1600" b="1" i="1"/>
                        </m:ctrlPr>
                      </m:funcPr>
                      <m:fName>
                        <m:r>
                          <a:rPr lang="en-US" altLang="zh-CN" sz="1600" b="1" i="1"/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zh-CN" altLang="zh-CN" sz="1600" b="1" i="1"/>
                            </m:ctrlPr>
                          </m:dPr>
                          <m:e>
                            <m:r>
                              <a:rPr lang="en-US" altLang="zh-CN" sz="1600" b="1" i="1"/>
                              <m:t>𝑸</m:t>
                            </m:r>
                            <m:d>
                              <m:dPr>
                                <m:ctrlPr>
                                  <a:rPr lang="zh-CN" altLang="zh-CN" sz="1600" b="1" i="1"/>
                                </m:ctrlPr>
                              </m:dPr>
                              <m:e>
                                <m:r>
                                  <a:rPr lang="en-US" altLang="zh-CN" sz="1600" b="1" i="1"/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sz="1600" dirty="0"/>
                  <a:t>: </a:t>
                </a:r>
                <a:r>
                  <a:rPr lang="zh-CN" altLang="zh-CN" sz="1600" dirty="0"/>
                  <a:t>这就是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𝑃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和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𝑄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之间的</a:t>
                </a:r>
                <a:r>
                  <a:rPr lang="zh-CN" altLang="zh-CN" sz="1600" b="1" dirty="0">
                    <a:solidFill>
                      <a:srgbClr val="C00000"/>
                    </a:solidFill>
                  </a:rPr>
                  <a:t>交叉熵。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sz="1600" dirty="0"/>
                  <a:t>因此</a:t>
                </a:r>
                <a:r>
                  <a:rPr lang="zh-CN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/>
                        </m:ctrlPr>
                      </m:sSubPr>
                      <m:e>
                        <m:r>
                          <a:rPr lang="en-US" altLang="zh-CN" sz="1600" i="1"/>
                          <m:t>𝐷</m:t>
                        </m:r>
                      </m:e>
                      <m:sub>
                        <m:d>
                          <m:dPr>
                            <m:ctrlPr>
                              <a:rPr lang="zh-CN" altLang="zh-CN" sz="1600" i="1"/>
                            </m:ctrlPr>
                          </m:dPr>
                          <m:e>
                            <m:r>
                              <a:rPr lang="en-US" altLang="zh-CN" sz="1600" i="1"/>
                              <m:t>𝐾𝐿</m:t>
                            </m:r>
                          </m:e>
                        </m:d>
                      </m:sub>
                    </m:sSub>
                    <m:r>
                      <a:rPr lang="en-US" altLang="zh-CN" sz="1600" i="1"/>
                      <m:t>(</m:t>
                    </m:r>
                    <m:r>
                      <a:rPr lang="en-US" altLang="zh-CN" sz="1600" i="1"/>
                      <m:t>𝑃</m:t>
                    </m:r>
                    <m:r>
                      <a:rPr lang="en-US" altLang="zh-CN" sz="1600" i="1"/>
                      <m:t>|</m:t>
                    </m:r>
                    <m:d>
                      <m:dPr>
                        <m:begChr m:val="|"/>
                        <m:ctrlPr>
                          <a:rPr lang="zh-CN" altLang="zh-CN" sz="1600" i="1"/>
                        </m:ctrlPr>
                      </m:dPr>
                      <m:e>
                        <m:r>
                          <a:rPr lang="en-US" altLang="zh-CN" sz="1600" i="1"/>
                          <m:t>𝑄</m:t>
                        </m:r>
                      </m:e>
                    </m:d>
                    <m:r>
                      <a:rPr lang="en-US" altLang="zh-CN" sz="1600" i="1"/>
                      <m:t> = </m:t>
                    </m:r>
                    <m:r>
                      <a:rPr lang="zh-CN" altLang="zh-CN" sz="1600" i="1"/>
                      <m:t>常数</m:t>
                    </m:r>
                    <m:r>
                      <a:rPr lang="en-US" altLang="zh-CN" sz="1600" i="1"/>
                      <m:t> + </m:t>
                    </m:r>
                    <m:r>
                      <a:rPr lang="zh-CN" altLang="zh-CN" sz="1600" i="1"/>
                      <m:t>交叉熵</m:t>
                    </m:r>
                  </m:oMath>
                </a14:m>
                <a:r>
                  <a:rPr lang="zh-CN" altLang="zh-CN" sz="1600" dirty="0"/>
                  <a:t>，所以</a:t>
                </a:r>
                <a:r>
                  <a:rPr lang="zh-CN" altLang="zh-CN" sz="1600" b="1" dirty="0"/>
                  <a:t>最小化</a:t>
                </a:r>
                <a:r>
                  <a:rPr lang="en-US" altLang="zh-CN" sz="1600" b="1" dirty="0"/>
                  <a:t> KL </a:t>
                </a:r>
                <a:r>
                  <a:rPr lang="zh-CN" altLang="zh-CN" sz="1600" b="1" dirty="0"/>
                  <a:t>散度</a:t>
                </a:r>
                <a:r>
                  <a:rPr lang="zh-CN" altLang="zh-CN" sz="1600" dirty="0"/>
                  <a:t>就等价于</a:t>
                </a:r>
                <a:r>
                  <a:rPr lang="zh-CN" altLang="zh-CN" sz="1600" b="1" dirty="0">
                    <a:solidFill>
                      <a:srgbClr val="C00000"/>
                    </a:solidFill>
                  </a:rPr>
                  <a:t>最小化交叉熵</a:t>
                </a:r>
                <a:r>
                  <a:rPr lang="zh-CN" altLang="zh-CN" sz="1600" dirty="0"/>
                  <a:t>。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因此，在机器学习中，我们使用交叉熵作为损失函数，来训练模型，使其预测分布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𝑄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zh-CN" sz="1600" dirty="0"/>
                  <a:t>逼近真实分布 </a:t>
                </a:r>
                <a14:m>
                  <m:oMath xmlns:m="http://schemas.openxmlformats.org/officeDocument/2006/math">
                    <m:r>
                      <a:rPr lang="en-US" altLang="zh-CN" sz="1600" i="1"/>
                      <m:t>𝑃</m:t>
                    </m:r>
                  </m:oMath>
                </a14:m>
                <a:r>
                  <a:rPr lang="zh-CN" altLang="zh-CN" sz="1600" dirty="0"/>
                  <a:t>。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zh-CN" sz="1600" dirty="0"/>
                  <a:t>交叉熵的通用公式：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/>
                        <m:t>𝐻</m:t>
                      </m:r>
                      <m:d>
                        <m:dPr>
                          <m:ctrlPr>
                            <a:rPr lang="zh-CN" altLang="zh-CN" sz="1600" i="1"/>
                          </m:ctrlPr>
                        </m:dPr>
                        <m:e>
                          <m:r>
                            <a:rPr lang="en-US" altLang="zh-CN" sz="1600" i="1"/>
                            <m:t>𝑃</m:t>
                          </m:r>
                          <m:r>
                            <a:rPr lang="en-US" altLang="zh-CN" sz="1600" i="1"/>
                            <m:t>,</m:t>
                          </m:r>
                          <m:r>
                            <a:rPr lang="en-US" altLang="zh-CN" sz="1600" i="1"/>
                            <m:t>𝑄</m:t>
                          </m:r>
                        </m:e>
                      </m:d>
                      <m:r>
                        <a:rPr lang="en-US" altLang="zh-CN" sz="1600" i="1"/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1600" i="1"/>
                          </m:ctrlPr>
                        </m:naryPr>
                        <m:sub>
                          <m:r>
                            <a:rPr lang="en-US" altLang="zh-CN" sz="1600" i="1"/>
                            <m:t>𝑥</m:t>
                          </m:r>
                        </m:sub>
                        <m:sup/>
                        <m:e>
                          <m:r>
                            <a:rPr lang="en-US" altLang="zh-CN" sz="1600" i="1"/>
                            <m:t>𝑃</m:t>
                          </m:r>
                          <m:d>
                            <m:dPr>
                              <m:ctrlPr>
                                <a:rPr lang="zh-CN" altLang="zh-CN" sz="1600" i="1"/>
                              </m:ctrlPr>
                            </m:dPr>
                            <m:e>
                              <m:r>
                                <a:rPr lang="en-US" altLang="zh-CN" sz="1600" i="1"/>
                                <m:t>𝑥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zh-CN" altLang="zh-CN" sz="16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/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1600" i="1"/>
                              </m:ctrlPr>
                            </m:dPr>
                            <m:e>
                              <m:r>
                                <a:rPr lang="en-US" altLang="zh-CN" sz="1600" i="1"/>
                                <m:t>𝑄</m:t>
                              </m:r>
                              <m:d>
                                <m:dPr>
                                  <m:ctrlPr>
                                    <a:rPr lang="zh-CN" altLang="zh-CN" sz="1600" i="1"/>
                                  </m:ctrlPr>
                                </m:dPr>
                                <m:e>
                                  <m:r>
                                    <a:rPr lang="en-US" altLang="zh-CN" sz="1600" i="1"/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16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6206ECA-98FB-ED0E-09F7-287419D5D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28" y="871354"/>
                <a:ext cx="11332391" cy="5044971"/>
              </a:xfrm>
              <a:prstGeom prst="rect">
                <a:avLst/>
              </a:prstGeom>
              <a:blipFill>
                <a:blip r:embed="rId3"/>
                <a:stretch>
                  <a:fillRect l="-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9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1899</Words>
  <Application>Microsoft Office PowerPoint</Application>
  <PresentationFormat>宽屏</PresentationFormat>
  <Paragraphs>105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Cambria Math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Act Tackle</dc:creator>
  <cp:lastModifiedBy>Act Tackle</cp:lastModifiedBy>
  <cp:revision>2</cp:revision>
  <dcterms:created xsi:type="dcterms:W3CDTF">2025-11-06T17:03:33Z</dcterms:created>
  <dcterms:modified xsi:type="dcterms:W3CDTF">2025-11-06T18:49:47Z</dcterms:modified>
</cp:coreProperties>
</file>